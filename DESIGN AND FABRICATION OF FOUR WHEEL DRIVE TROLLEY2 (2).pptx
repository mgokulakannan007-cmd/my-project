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71" r:id="rId3"/>
    <p:sldId id="272" r:id="rId4"/>
    <p:sldId id="313" r:id="rId5"/>
    <p:sldId id="292" r:id="rId6"/>
    <p:sldId id="314" r:id="rId7"/>
    <p:sldId id="315" r:id="rId8"/>
    <p:sldId id="316" r:id="rId9"/>
    <p:sldId id="261" r:id="rId10"/>
    <p:sldId id="262" r:id="rId11"/>
    <p:sldId id="327" r:id="rId12"/>
    <p:sldId id="328" r:id="rId13"/>
    <p:sldId id="329" r:id="rId14"/>
    <p:sldId id="326" r:id="rId15"/>
    <p:sldId id="274" r:id="rId16"/>
    <p:sldId id="322" r:id="rId17"/>
    <p:sldId id="303" r:id="rId18"/>
    <p:sldId id="304" r:id="rId19"/>
    <p:sldId id="323" r:id="rId20"/>
    <p:sldId id="324" r:id="rId21"/>
    <p:sldId id="325" r:id="rId22"/>
    <p:sldId id="258" r:id="rId23"/>
    <p:sldId id="270" r:id="rId24"/>
    <p:sldId id="265" r:id="rId25"/>
    <p:sldId id="31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7" d="100"/>
          <a:sy n="77" d="100"/>
        </p:scale>
        <p:origin x="-1176" y="102"/>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2597F4-7255-4C89-BAD6-D63957610023}"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2685986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2597F4-7255-4C89-BAD6-D63957610023}"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2815553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2597F4-7255-4C89-BAD6-D63957610023}"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134898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2597F4-7255-4C89-BAD6-D63957610023}"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420119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2597F4-7255-4C89-BAD6-D63957610023}" type="datetimeFigureOut">
              <a:rPr lang="en-US" smtClean="0"/>
              <a:pPr/>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3680019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2597F4-7255-4C89-BAD6-D63957610023}" type="datetimeFigureOut">
              <a:rPr lang="en-US" smtClean="0"/>
              <a:pPr/>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349421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2597F4-7255-4C89-BAD6-D63957610023}" type="datetimeFigureOut">
              <a:rPr lang="en-US" smtClean="0"/>
              <a:pPr/>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4254632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2597F4-7255-4C89-BAD6-D63957610023}"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330372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2597F4-7255-4C89-BAD6-D63957610023}"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1324162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2597F4-7255-4C89-BAD6-D63957610023}"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975285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2597F4-7255-4C89-BAD6-D63957610023}"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24410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2597F4-7255-4C89-BAD6-D63957610023}" type="datetimeFigureOut">
              <a:rPr lang="en-US" smtClean="0"/>
              <a:pPr/>
              <a:t>3/6/2025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6E4F37-02FE-4612-B4BF-B1FEC3C20F79}" type="slidenum">
              <a:rPr lang="en-US" smtClean="0"/>
              <a:pPr/>
              <a:t>‹#›</a:t>
            </a:fld>
            <a:endParaRPr lang="en-US"/>
          </a:p>
        </p:txBody>
      </p:sp>
    </p:spTree>
    <p:extLst>
      <p:ext uri="{BB962C8B-B14F-4D97-AF65-F5344CB8AC3E}">
        <p14:creationId xmlns:p14="http://schemas.microsoft.com/office/powerpoint/2010/main" xmlns="" val="221303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219200"/>
          </a:xfrm>
        </p:spPr>
        <p:txBody>
          <a:bodyPr>
            <a:normAutofit fontScale="90000"/>
          </a:bodyPr>
          <a:lstStyle/>
          <a:p>
            <a:r>
              <a:rPr lang="en-US" dirty="0" smtClean="0"/>
              <a:t/>
            </a:r>
            <a:br>
              <a:rPr lang="en-US" dirty="0" smtClean="0"/>
            </a:br>
            <a:endParaRPr lang="en-US" dirty="0"/>
          </a:p>
        </p:txBody>
      </p:sp>
      <p:sp>
        <p:nvSpPr>
          <p:cNvPr id="3" name="Content Placeholder 2"/>
          <p:cNvSpPr>
            <a:spLocks noGrp="1"/>
          </p:cNvSpPr>
          <p:nvPr>
            <p:ph idx="1"/>
          </p:nvPr>
        </p:nvSpPr>
        <p:spPr/>
        <p:txBody>
          <a:bodyPr/>
          <a:lstStyle/>
          <a:p>
            <a:pPr algn="ctr">
              <a:buNone/>
            </a:pPr>
            <a:r>
              <a:rPr lang="en-US" dirty="0" smtClean="0"/>
              <a:t>DESIGN AND FABRICATION OF FOUR WHEEL DRIVE TROLLEY</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Trolley is the device used for carrying load or to transport the material from one point to another. For different types of application various types of </a:t>
            </a:r>
            <a:r>
              <a:rPr lang="en-US" dirty="0" err="1" smtClean="0"/>
              <a:t>trollies</a:t>
            </a:r>
            <a:r>
              <a:rPr lang="en-US" dirty="0" smtClean="0"/>
              <a:t> are available in the market. Depending upon the specific use the one will select the trolley, but it is limited to do a specific work. To overcome this problem, a new </a:t>
            </a:r>
            <a:r>
              <a:rPr lang="en-US" dirty="0" err="1" smtClean="0"/>
              <a:t>troPey</a:t>
            </a:r>
            <a:r>
              <a:rPr lang="en-US" dirty="0" smtClean="0"/>
              <a:t> was designed which could be used for multipurpose. There are many types of trolley available in the </a:t>
            </a:r>
            <a:r>
              <a:rPr lang="en-US" dirty="0" err="1" smtClean="0"/>
              <a:t>marketfor</a:t>
            </a:r>
            <a:r>
              <a:rPr lang="en-US" dirty="0" smtClean="0"/>
              <a:t> various fields </a:t>
            </a:r>
            <a:r>
              <a:rPr lang="en-US" dirty="0" err="1" smtClean="0"/>
              <a:t>likeaéport</a:t>
            </a:r>
            <a:r>
              <a:rPr lang="en-US" dirty="0" smtClean="0"/>
              <a:t>, shopping malls, industries, </a:t>
            </a:r>
            <a:r>
              <a:rPr lang="en-US" dirty="0" err="1" smtClean="0"/>
              <a:t>hOSpitdls</a:t>
            </a:r>
            <a:r>
              <a:rPr lang="en-US" dirty="0" smtClean="0"/>
              <a:t> etc. to carry the heavy or light loads. This paper </a:t>
            </a:r>
            <a:r>
              <a:rPr lang="en-US" dirty="0" err="1" smtClean="0"/>
              <a:t>cOntdiRs</a:t>
            </a:r>
            <a:r>
              <a:rPr lang="en-US" dirty="0" smtClean="0"/>
              <a:t> the development of trolley, which includes design on the basis of creativity skills and fabrication, which can be used for more than one type of task. The trolley designed is the integration of </a:t>
            </a:r>
            <a:r>
              <a:rPr lang="en-US" dirty="0" err="1" smtClean="0"/>
              <a:t>a@ort</a:t>
            </a:r>
            <a:r>
              <a:rPr lang="en-US" dirty="0" smtClean="0"/>
              <a:t> </a:t>
            </a:r>
            <a:r>
              <a:rPr lang="en-US" dirty="0" err="1" smtClean="0"/>
              <a:t>troPey</a:t>
            </a:r>
            <a:r>
              <a:rPr lang="en-US" dirty="0" smtClean="0"/>
              <a:t> and </a:t>
            </a:r>
            <a:r>
              <a:rPr lang="en-US" dirty="0" err="1" smtClean="0"/>
              <a:t>shoppingmall</a:t>
            </a:r>
            <a:r>
              <a:rPr lang="en-US" dirty="0" smtClean="0"/>
              <a:t> trolley. One more advantageous feature added to </a:t>
            </a:r>
            <a:r>
              <a:rPr lang="en-US" dirty="0" err="1" smtClean="0"/>
              <a:t>thedesign</a:t>
            </a:r>
            <a:r>
              <a:rPr lang="en-US" dirty="0" smtClean="0"/>
              <a:t> </a:t>
            </a:r>
            <a:r>
              <a:rPr lang="en-US" dirty="0" err="1" smtClean="0"/>
              <a:t>wasa</a:t>
            </a:r>
            <a:r>
              <a:rPr lang="en-US" dirty="0" smtClean="0"/>
              <a:t> motorized wheel which reduces the human effort </a:t>
            </a:r>
            <a:r>
              <a:rPr lang="en-US" dirty="0" err="1" smtClean="0"/>
              <a:t>forcarrying</a:t>
            </a:r>
            <a:r>
              <a:rPr lang="en-US" dirty="0" smtClean="0"/>
              <a:t> of load and also it can be operated manually if </a:t>
            </a:r>
            <a:r>
              <a:rPr lang="en-US" dirty="0" err="1" smtClean="0"/>
              <a:t>requéed</a:t>
            </a:r>
            <a:r>
              <a:rPr lang="en-US" dirty="0" smtClean="0"/>
              <a:t>.</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533400" y="1524000"/>
            <a:ext cx="8229600" cy="4525963"/>
          </a:xfrm>
        </p:spPr>
        <p:txBody>
          <a:bodyPr>
            <a:normAutofit fontScale="70000" lnSpcReduction="20000"/>
          </a:bodyPr>
          <a:lstStyle/>
          <a:p>
            <a:pPr>
              <a:buNone/>
            </a:pPr>
            <a:r>
              <a:rPr lang="en-US" b="1" dirty="0" smtClean="0"/>
              <a:t> </a:t>
            </a:r>
            <a:r>
              <a:rPr lang="en-US" dirty="0" smtClean="0"/>
              <a:t>A trolley </a:t>
            </a:r>
            <a:r>
              <a:rPr lang="en-US" dirty="0" smtClean="0"/>
              <a:t>is small transport device used to move significant load from one place to another. In most of the industries hand trolleys normally used to transport finished product or raw materials. </a:t>
            </a:r>
            <a:r>
              <a:rPr lang="en-US" dirty="0" smtClean="0"/>
              <a:t>Differing kinds </a:t>
            </a:r>
            <a:r>
              <a:rPr lang="en-US" dirty="0" smtClean="0"/>
              <a:t>of trolley exist and </a:t>
            </a:r>
            <a:r>
              <a:rPr lang="en-US" dirty="0" err="1" smtClean="0"/>
              <a:t>alsothe</a:t>
            </a:r>
            <a:r>
              <a:rPr lang="en-US" dirty="0" smtClean="0"/>
              <a:t> type used is </a:t>
            </a:r>
            <a:r>
              <a:rPr lang="en-US" dirty="0" err="1" smtClean="0"/>
              <a:t>comm</a:t>
            </a:r>
            <a:r>
              <a:rPr lang="en-US" dirty="0" smtClean="0"/>
              <a:t> </a:t>
            </a:r>
            <a:r>
              <a:rPr lang="en-US" dirty="0" err="1" smtClean="0"/>
              <a:t>onlychosensupportedwhatkind</a:t>
            </a:r>
            <a:r>
              <a:rPr lang="en-US" dirty="0" smtClean="0"/>
              <a:t> </a:t>
            </a:r>
            <a:r>
              <a:rPr lang="en-US" dirty="0" smtClean="0"/>
              <a:t>of material it'll </a:t>
            </a:r>
            <a:r>
              <a:rPr lang="en-US" dirty="0" err="1" smtClean="0"/>
              <a:t>move.A</a:t>
            </a:r>
            <a:r>
              <a:rPr lang="en-US" dirty="0" smtClean="0"/>
              <a:t> trolley is an object with wheels that you use to </a:t>
            </a:r>
            <a:r>
              <a:rPr lang="en-US" dirty="0" err="1" smtClean="0"/>
              <a:t>transportheavy</a:t>
            </a:r>
            <a:r>
              <a:rPr lang="en-US" dirty="0" smtClean="0"/>
              <a:t> things such as </a:t>
            </a:r>
            <a:r>
              <a:rPr lang="en-US" dirty="0" err="1" smtClean="0"/>
              <a:t>shoppingor</a:t>
            </a:r>
            <a:r>
              <a:rPr lang="en-US" dirty="0" smtClean="0"/>
              <a:t> </a:t>
            </a:r>
            <a:r>
              <a:rPr lang="en-US" dirty="0" err="1" smtClean="0"/>
              <a:t>luggagesaferuse</a:t>
            </a:r>
            <a:r>
              <a:rPr lang="en-US" dirty="0" smtClean="0"/>
              <a:t> </a:t>
            </a:r>
            <a:r>
              <a:rPr lang="en-US" dirty="0" err="1" smtClean="0"/>
              <a:t>oftrolleys,they</a:t>
            </a:r>
            <a:r>
              <a:rPr lang="en-US" dirty="0" smtClean="0"/>
              <a:t> are to </a:t>
            </a:r>
            <a:r>
              <a:rPr lang="en-US" dirty="0" err="1" smtClean="0"/>
              <a:t>bepushedforwardandshouldnot</a:t>
            </a:r>
            <a:r>
              <a:rPr lang="en-US" dirty="0" smtClean="0"/>
              <a:t> be used on loose or rough surfaces where possible, unless it features pneumatic wheels. And wheeled mechanism from which a hoist is suspended to provide horizontal motion of the hoist along a beam and bridge </a:t>
            </a:r>
            <a:r>
              <a:rPr lang="en-US" dirty="0" err="1" smtClean="0"/>
              <a:t>rail.Alwayspush</a:t>
            </a:r>
            <a:r>
              <a:rPr lang="en-US" dirty="0" smtClean="0"/>
              <a:t> a trolley forward, and don't pull the trolley. Position the trolley as close to the items as possible. Use the foot brakes while loading, if the trolley has them. Use a semi-</a:t>
            </a:r>
            <a:r>
              <a:rPr lang="en-US" dirty="0" err="1" smtClean="0"/>
              <a:t>squatposition</a:t>
            </a:r>
            <a:r>
              <a:rPr lang="en-US" dirty="0" smtClean="0"/>
              <a:t> to load the items.</a:t>
            </a:r>
          </a:p>
          <a:p>
            <a:pPr>
              <a:buNone/>
            </a:pPr>
            <a:endParaRPr lang="en-US" dirty="0" smtClean="0"/>
          </a:p>
          <a:p>
            <a:pPr>
              <a:buNone/>
            </a:pPr>
            <a:r>
              <a:rPr lang="en-US" b="1" dirty="0" smtClean="0"/>
              <a:t>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CONSTRUCTION</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The trolley was constructed in the welding workshop where marking and cutting was the first approach in the construction. The cutting of the steel galvanized pipe and plate will be used for fabrication. Metal welding was the next step, all parts were joined together using a welding machine and an electrode. When designing a trolley, it's important to consider the comfort and protection of the person who will be pulling it. For example, a trolley can have a braking mechanism and a suspension system to help absorb jerks when moving it on stairs. wheeled mechanism </a:t>
            </a:r>
            <a:r>
              <a:rPr lang="en-US" dirty="0" err="1" smtClean="0"/>
              <a:t>irom</a:t>
            </a:r>
            <a:r>
              <a:rPr lang="en-US" dirty="0" smtClean="0"/>
              <a:t> which a hoist is </a:t>
            </a:r>
            <a:r>
              <a:rPr lang="en-US" dirty="0" err="1" smtClean="0"/>
              <a:t>suspendedto</a:t>
            </a:r>
            <a:r>
              <a:rPr lang="en-US" dirty="0" smtClean="0"/>
              <a:t> provide horizontal motion of the hoist along a beam </a:t>
            </a:r>
            <a:r>
              <a:rPr lang="en-US" dirty="0" err="1" smtClean="0"/>
              <a:t>andbridge</a:t>
            </a:r>
            <a:r>
              <a:rPr lang="en-US" dirty="0" smtClean="0"/>
              <a:t> </a:t>
            </a:r>
            <a:r>
              <a:rPr lang="en-US" dirty="0" err="1" smtClean="0"/>
              <a:t>rail.beam</a:t>
            </a:r>
            <a:r>
              <a:rPr lang="en-US" dirty="0" smtClean="0"/>
              <a:t> trolleys </a:t>
            </a:r>
            <a:r>
              <a:rPr lang="en-US" dirty="0" err="1" smtClean="0"/>
              <a:t>areused</a:t>
            </a:r>
            <a:r>
              <a:rPr lang="en-US" dirty="0" smtClean="0"/>
              <a:t> </a:t>
            </a:r>
            <a:r>
              <a:rPr lang="en-US" dirty="0" err="1" smtClean="0"/>
              <a:t>tolift</a:t>
            </a:r>
            <a:r>
              <a:rPr lang="en-US" dirty="0" smtClean="0"/>
              <a:t> </a:t>
            </a:r>
            <a:r>
              <a:rPr lang="en-US" dirty="0" err="1" smtClean="0"/>
              <a:t>andtransportheavybuildingmaterials,such</a:t>
            </a:r>
            <a:r>
              <a:rPr lang="en-US" dirty="0" smtClean="0"/>
              <a:t> as steel beams, concrete blocks, or prefabricated components.</a:t>
            </a:r>
          </a:p>
          <a:p>
            <a:pPr>
              <a:buNone/>
            </a:pPr>
            <a:endParaRPr lang="en-US" dirty="0" smtClean="0"/>
          </a:p>
          <a:p>
            <a:r>
              <a:rPr lang="en-US" dirty="0" smtClean="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REVIEW1/4</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 </a:t>
            </a:r>
            <a:r>
              <a:rPr lang="en-US" dirty="0" smtClean="0"/>
              <a:t>Prof. Mr. </a:t>
            </a:r>
            <a:r>
              <a:rPr lang="en-US" dirty="0" err="1" smtClean="0"/>
              <a:t>Patwegar</a:t>
            </a:r>
            <a:r>
              <a:rPr lang="en-US" dirty="0" smtClean="0"/>
              <a:t> A. A., </a:t>
            </a:r>
            <a:r>
              <a:rPr lang="en-US" dirty="0" err="1" smtClean="0"/>
              <a:t>Prathamesh</a:t>
            </a:r>
            <a:r>
              <a:rPr lang="en-US" dirty="0" smtClean="0"/>
              <a:t> </a:t>
            </a:r>
            <a:r>
              <a:rPr lang="en-US" dirty="0" err="1" smtClean="0"/>
              <a:t>Bhosale</a:t>
            </a:r>
            <a:r>
              <a:rPr lang="en-US" dirty="0" smtClean="0"/>
              <a:t> </a:t>
            </a:r>
            <a:r>
              <a:rPr lang="en-US" dirty="0" err="1" smtClean="0"/>
              <a:t>Renuka</a:t>
            </a:r>
            <a:r>
              <a:rPr lang="en-US" dirty="0" smtClean="0"/>
              <a:t> </a:t>
            </a:r>
            <a:r>
              <a:rPr lang="en-US" dirty="0" err="1" smtClean="0"/>
              <a:t>Chougule</a:t>
            </a:r>
            <a:r>
              <a:rPr lang="en-US" dirty="0" smtClean="0"/>
              <a:t>, </a:t>
            </a:r>
            <a:r>
              <a:rPr lang="en-US" dirty="0" err="1" smtClean="0"/>
              <a:t>Varsha</a:t>
            </a:r>
            <a:r>
              <a:rPr lang="en-US" dirty="0" smtClean="0"/>
              <a:t> </a:t>
            </a:r>
            <a:r>
              <a:rPr lang="en-US" dirty="0" err="1" smtClean="0"/>
              <a:t>Shipekar</a:t>
            </a:r>
            <a:r>
              <a:rPr lang="en-US" dirty="0" smtClean="0"/>
              <a:t>, </a:t>
            </a:r>
            <a:r>
              <a:rPr lang="en-US" dirty="0" err="1" smtClean="0"/>
              <a:t>Satappa</a:t>
            </a:r>
            <a:r>
              <a:rPr lang="en-US" dirty="0" smtClean="0"/>
              <a:t> </a:t>
            </a:r>
            <a:r>
              <a:rPr lang="en-US" dirty="0" err="1" smtClean="0"/>
              <a:t>Zambari</a:t>
            </a:r>
            <a:r>
              <a:rPr lang="en-US" dirty="0" smtClean="0"/>
              <a:t>, </a:t>
            </a:r>
            <a:r>
              <a:rPr lang="en-US" dirty="0" err="1" smtClean="0"/>
              <a:t>Avinash</a:t>
            </a:r>
            <a:r>
              <a:rPr lang="en-US" dirty="0" smtClean="0"/>
              <a:t> </a:t>
            </a:r>
            <a:r>
              <a:rPr lang="en-US" dirty="0" err="1" smtClean="0"/>
              <a:t>Malekar</a:t>
            </a:r>
            <a:endParaRPr lang="en-US" dirty="0" smtClean="0"/>
          </a:p>
          <a:p>
            <a:pPr>
              <a:buNone/>
            </a:pPr>
            <a:r>
              <a:rPr lang="en-US" dirty="0" smtClean="0"/>
              <a:t> </a:t>
            </a:r>
          </a:p>
          <a:p>
            <a:r>
              <a:rPr lang="en-US" dirty="0" smtClean="0"/>
              <a:t>Design and Fabrication of Material Handling Trolley</a:t>
            </a:r>
          </a:p>
          <a:p>
            <a:pPr>
              <a:buNone/>
            </a:pPr>
            <a:r>
              <a:rPr lang="en-US" b="1" dirty="0" smtClean="0"/>
              <a:t> </a:t>
            </a:r>
            <a:endParaRPr lang="en-US" dirty="0" smtClean="0"/>
          </a:p>
          <a:p>
            <a:r>
              <a:rPr lang="en-US" dirty="0" smtClean="0"/>
              <a:t>This paper describes the “Design and Fabrication of Material Handling Trolley”. We need to reduce manual efforts of workers for material handling effortlessly. The main purpose of material handling trolley is to ensure that the right amount of material is carefully delivered to the desired destination at the right time and at minimum cost. The main objective was to build a electric vehicle of capable of transporting weight of a material up to 150 kg and capable of travelling to some distance with varying speed. In present work, the focus is given on the time period, comfort, advancement, low cost, and mainly manual work is aimed to be reduced as much as possible. This paper also take into consideration the material used with minimum possible cost</a:t>
            </a:r>
          </a:p>
          <a:p>
            <a:endParaRPr 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REVIEW2/4</a:t>
            </a:r>
            <a:endParaRPr lang="en-US" dirty="0"/>
          </a:p>
        </p:txBody>
      </p:sp>
      <p:sp>
        <p:nvSpPr>
          <p:cNvPr id="3" name="Content Placeholder 2"/>
          <p:cNvSpPr>
            <a:spLocks noGrp="1"/>
          </p:cNvSpPr>
          <p:nvPr>
            <p:ph idx="1"/>
          </p:nvPr>
        </p:nvSpPr>
        <p:spPr/>
        <p:txBody>
          <a:bodyPr>
            <a:normAutofit fontScale="40000" lnSpcReduction="20000"/>
          </a:bodyPr>
          <a:lstStyle/>
          <a:p>
            <a:r>
              <a:rPr lang="en-US" dirty="0" err="1" smtClean="0"/>
              <a:t>Balabomma</a:t>
            </a:r>
            <a:r>
              <a:rPr lang="en-US" dirty="0" smtClean="0"/>
              <a:t> </a:t>
            </a:r>
            <a:r>
              <a:rPr lang="en-US" dirty="0" err="1" smtClean="0"/>
              <a:t>Hemanth</a:t>
            </a:r>
            <a:r>
              <a:rPr lang="en-US" dirty="0" smtClean="0"/>
              <a:t>, </a:t>
            </a:r>
            <a:r>
              <a:rPr lang="en-US" dirty="0" err="1" smtClean="0"/>
              <a:t>Bolligarla</a:t>
            </a:r>
            <a:r>
              <a:rPr lang="en-US" dirty="0" smtClean="0"/>
              <a:t> </a:t>
            </a:r>
            <a:r>
              <a:rPr lang="en-US" dirty="0" err="1" smtClean="0"/>
              <a:t>Chaitanya</a:t>
            </a:r>
            <a:r>
              <a:rPr lang="en-US" dirty="0" smtClean="0"/>
              <a:t> </a:t>
            </a:r>
            <a:r>
              <a:rPr lang="en-US" dirty="0" err="1" smtClean="0"/>
              <a:t>Akarsh</a:t>
            </a:r>
            <a:r>
              <a:rPr lang="en-US" dirty="0" smtClean="0"/>
              <a:t>, </a:t>
            </a:r>
            <a:r>
              <a:rPr lang="en-US" dirty="0" err="1" smtClean="0"/>
              <a:t>Boyidapu</a:t>
            </a:r>
            <a:r>
              <a:rPr lang="en-US" dirty="0" smtClean="0"/>
              <a:t> </a:t>
            </a:r>
            <a:r>
              <a:rPr lang="en-US" dirty="0" err="1" smtClean="0"/>
              <a:t>Bhanu</a:t>
            </a:r>
            <a:r>
              <a:rPr lang="en-US" dirty="0" smtClean="0"/>
              <a:t> </a:t>
            </a:r>
            <a:r>
              <a:rPr lang="en-US" dirty="0" err="1" smtClean="0"/>
              <a:t>Sai</a:t>
            </a:r>
            <a:r>
              <a:rPr lang="en-US" dirty="0" smtClean="0"/>
              <a:t>, </a:t>
            </a:r>
            <a:r>
              <a:rPr lang="en-US" dirty="0" err="1" smtClean="0"/>
              <a:t>Boksu</a:t>
            </a:r>
            <a:r>
              <a:rPr lang="en-US" dirty="0" smtClean="0"/>
              <a:t> </a:t>
            </a:r>
            <a:r>
              <a:rPr lang="en-US" dirty="0" err="1" smtClean="0"/>
              <a:t>Srinivas</a:t>
            </a:r>
            <a:r>
              <a:rPr lang="en-US" dirty="0" smtClean="0"/>
              <a:t>, Dr. </a:t>
            </a:r>
            <a:r>
              <a:rPr lang="en-US" dirty="0" err="1" smtClean="0"/>
              <a:t>K.Prasada</a:t>
            </a:r>
            <a:r>
              <a:rPr lang="en-US" dirty="0" smtClean="0"/>
              <a:t> </a:t>
            </a:r>
            <a:r>
              <a:rPr lang="en-US" dirty="0" err="1" smtClean="0"/>
              <a:t>Rao</a:t>
            </a:r>
            <a:endParaRPr lang="en-US" dirty="0" smtClean="0"/>
          </a:p>
          <a:p>
            <a:r>
              <a:rPr lang="en-US" dirty="0" smtClean="0"/>
              <a:t>FABRICATION OF A TROLLEY IT IS ATTACHED TO A TWO-WHEELER FOR AGRICULTURAL PURPOSES</a:t>
            </a:r>
          </a:p>
          <a:p>
            <a:pPr>
              <a:buNone/>
            </a:pPr>
            <a:r>
              <a:rPr lang="en-US" b="1" dirty="0" smtClean="0"/>
              <a:t> </a:t>
            </a:r>
            <a:endParaRPr lang="en-US" dirty="0" smtClean="0"/>
          </a:p>
          <a:p>
            <a:pPr>
              <a:buNone/>
            </a:pPr>
            <a:r>
              <a:rPr lang="en-US" b="1" dirty="0" smtClean="0"/>
              <a:t> </a:t>
            </a:r>
            <a:endParaRPr lang="en-US" dirty="0" smtClean="0"/>
          </a:p>
          <a:p>
            <a:r>
              <a:rPr lang="en-US" dirty="0" smtClean="0"/>
              <a:t>Modern agricultural practices aim to increase productivity and efficiency. An essential part of this growth is the development of new instruments that enable farmers to do their tasks more effectively. This study describes the design and development of a tram system that can be mounted on a two-wheeler and specifically addresses the requirements of small- and medium-sized farmers engaged in agricultural activities. The tram system will make it easier for farmers to move machinery, tools and produce throughout their fields by enhancing transportation </a:t>
            </a:r>
            <a:r>
              <a:rPr lang="en-US" dirty="0" err="1" smtClean="0"/>
              <a:t>alternatives.Weight</a:t>
            </a:r>
            <a:r>
              <a:rPr lang="en-US" dirty="0" smtClean="0"/>
              <a:t> capacity, stability, maneuverability, and ease of attachment to a normal two-wheeler were all carefully considered when designing the tram. In the manufacturing process, welded steel and sturdy materials were employed to ensure the trolley's durability and keep the weight manageable for the two-wheeler to carry. Additionally, safety features like reflectors and brake systems were built into the design to guarantee safe operation both during the day and at night. Due to the user-friendly design of the connection mechanism, farmers can rapidly attach and detach the tram from their two-wheeler. This adaptability gives farmers flexibility by enabling them to use the same two-wheeler for a range of </a:t>
            </a:r>
            <a:r>
              <a:rPr lang="en-US" dirty="0" err="1" smtClean="0"/>
              <a:t>jobs.To</a:t>
            </a:r>
            <a:r>
              <a:rPr lang="en-US" dirty="0" smtClean="0"/>
              <a:t> evaluate the performance of the tram, field testing was done with varied loads and surfaces. The research revealed that the tram greatly boosts the two-Wheeler's carrying capacity, allowing farmers to transport more equipment, seeds, and fertilizer. According to an assessment of the stability of the trolley attachment and its impact on maneuverability, the trolley system maintained a decent balance while not materially compromising the two-Wheeler's handling.</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REVIEW3/4</a:t>
            </a:r>
            <a:endParaRPr lang="en-US" dirty="0"/>
          </a:p>
        </p:txBody>
      </p:sp>
      <p:sp>
        <p:nvSpPr>
          <p:cNvPr id="3" name="Content Placeholder 2"/>
          <p:cNvSpPr>
            <a:spLocks noGrp="1"/>
          </p:cNvSpPr>
          <p:nvPr>
            <p:ph idx="1"/>
          </p:nvPr>
        </p:nvSpPr>
        <p:spPr/>
        <p:txBody>
          <a:bodyPr>
            <a:normAutofit fontScale="55000" lnSpcReduction="20000"/>
          </a:bodyPr>
          <a:lstStyle/>
          <a:p>
            <a:r>
              <a:rPr lang="en-US" dirty="0" err="1" smtClean="0"/>
              <a:t>Janmey</a:t>
            </a:r>
            <a:r>
              <a:rPr lang="en-US" dirty="0" smtClean="0"/>
              <a:t> </a:t>
            </a:r>
            <a:r>
              <a:rPr lang="en-US" dirty="0" err="1" smtClean="0"/>
              <a:t>Panchal</a:t>
            </a:r>
            <a:r>
              <a:rPr lang="en-US" dirty="0" smtClean="0"/>
              <a:t>, </a:t>
            </a:r>
            <a:r>
              <a:rPr lang="en-US" dirty="0" err="1" smtClean="0"/>
              <a:t>Akib</a:t>
            </a:r>
            <a:r>
              <a:rPr lang="en-US" dirty="0" smtClean="0"/>
              <a:t> </a:t>
            </a:r>
            <a:r>
              <a:rPr lang="en-US" dirty="0" err="1" smtClean="0"/>
              <a:t>Mansuri</a:t>
            </a:r>
            <a:r>
              <a:rPr lang="en-US" dirty="0" smtClean="0"/>
              <a:t>, </a:t>
            </a:r>
            <a:r>
              <a:rPr lang="en-US" dirty="0" err="1" smtClean="0"/>
              <a:t>Samir</a:t>
            </a:r>
            <a:r>
              <a:rPr lang="en-US" dirty="0" smtClean="0"/>
              <a:t> </a:t>
            </a:r>
            <a:r>
              <a:rPr lang="en-US" dirty="0" err="1" smtClean="0"/>
              <a:t>Mansuri</a:t>
            </a:r>
            <a:r>
              <a:rPr lang="en-US" dirty="0" smtClean="0"/>
              <a:t> and </a:t>
            </a:r>
            <a:r>
              <a:rPr lang="en-US" dirty="0" err="1" smtClean="0"/>
              <a:t>Abhishek</a:t>
            </a:r>
            <a:r>
              <a:rPr lang="en-US" dirty="0" smtClean="0"/>
              <a:t> </a:t>
            </a:r>
            <a:r>
              <a:rPr lang="en-US" dirty="0" err="1" smtClean="0"/>
              <a:t>Chauhan</a:t>
            </a:r>
            <a:endParaRPr lang="en-US" dirty="0" smtClean="0"/>
          </a:p>
          <a:p>
            <a:r>
              <a:rPr lang="en-US" dirty="0" smtClean="0"/>
              <a:t>Design and Fabrication of Automatic Sensor based Material Handling Vehicle</a:t>
            </a:r>
          </a:p>
          <a:p>
            <a:r>
              <a:rPr lang="en-US" dirty="0" smtClean="0"/>
              <a:t>– In the recent times the need of automation is increasing day by day which helps us to enhance the creation and application of technologies to produce and deliver goods and services with minimal human intervention. The implementation of </a:t>
            </a:r>
            <a:r>
              <a:rPr lang="en-US" dirty="0" err="1" smtClean="0"/>
              <a:t>automative</a:t>
            </a:r>
            <a:r>
              <a:rPr lang="en-US" dirty="0" smtClean="0"/>
              <a:t> technologies, techniques and processes improve the efficiency, reliability, speed of many activities that were previously performed by humans. Therefore an automatic human following sensor based material handling vehicle is required which decreases the human effort and increases the capacity to finish the work at the small time interval. This research mainly describes the working of ultrasonic sensor attached to the small four wheel trolley cum vehicle which will be run by using renewable source of energy. Also it has been made to help the workers and the frontline workers to carry such materials in this contact less </a:t>
            </a:r>
            <a:r>
              <a:rPr lang="en-US" dirty="0" err="1" smtClean="0"/>
              <a:t>covid</a:t>
            </a:r>
            <a:r>
              <a:rPr lang="en-US" dirty="0" smtClean="0"/>
              <a:t> era. In this we will also like to explain the combination of the automatic as well as the utility of renewable source of energy to save the energy for future generation and for the welfare of the nature.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REVIEW4/4</a:t>
            </a:r>
            <a:endParaRPr lang="en-US" dirty="0"/>
          </a:p>
        </p:txBody>
      </p:sp>
      <p:sp>
        <p:nvSpPr>
          <p:cNvPr id="3" name="Content Placeholder 2"/>
          <p:cNvSpPr>
            <a:spLocks noGrp="1"/>
          </p:cNvSpPr>
          <p:nvPr>
            <p:ph idx="1"/>
          </p:nvPr>
        </p:nvSpPr>
        <p:spPr/>
        <p:txBody>
          <a:bodyPr>
            <a:normAutofit fontScale="47500" lnSpcReduction="20000"/>
          </a:bodyPr>
          <a:lstStyle/>
          <a:p>
            <a:r>
              <a:rPr lang="en-US" dirty="0" err="1" smtClean="0"/>
              <a:t>Sachin</a:t>
            </a:r>
            <a:r>
              <a:rPr lang="en-US" dirty="0" smtClean="0"/>
              <a:t> P. </a:t>
            </a:r>
            <a:r>
              <a:rPr lang="en-US" dirty="0" err="1" smtClean="0"/>
              <a:t>Dhavane</a:t>
            </a:r>
            <a:r>
              <a:rPr lang="en-US" dirty="0" smtClean="0"/>
              <a:t> , </a:t>
            </a:r>
            <a:r>
              <a:rPr lang="en-US" dirty="0" err="1" smtClean="0"/>
              <a:t>Priyanka</a:t>
            </a:r>
            <a:r>
              <a:rPr lang="en-US" dirty="0" smtClean="0"/>
              <a:t> D. </a:t>
            </a:r>
            <a:r>
              <a:rPr lang="en-US" dirty="0" err="1" smtClean="0"/>
              <a:t>Suryavanshi</a:t>
            </a:r>
            <a:r>
              <a:rPr lang="en-US" dirty="0" smtClean="0"/>
              <a:t> , </a:t>
            </a:r>
            <a:r>
              <a:rPr lang="en-US" dirty="0" err="1" smtClean="0"/>
              <a:t>Rahul</a:t>
            </a:r>
            <a:r>
              <a:rPr lang="en-US" dirty="0" smtClean="0"/>
              <a:t> B. </a:t>
            </a:r>
            <a:r>
              <a:rPr lang="en-US" dirty="0" err="1" smtClean="0"/>
              <a:t>Kamble</a:t>
            </a:r>
            <a:r>
              <a:rPr lang="en-US" dirty="0" smtClean="0"/>
              <a:t> , </a:t>
            </a:r>
            <a:r>
              <a:rPr lang="en-US" dirty="0" err="1" smtClean="0"/>
              <a:t>Renuka</a:t>
            </a:r>
            <a:r>
              <a:rPr lang="en-US" dirty="0" smtClean="0"/>
              <a:t> K. </a:t>
            </a:r>
            <a:r>
              <a:rPr lang="en-US" dirty="0" err="1" smtClean="0"/>
              <a:t>Gaikwad</a:t>
            </a:r>
            <a:endParaRPr lang="en-US" dirty="0" smtClean="0"/>
          </a:p>
          <a:p>
            <a:pPr>
              <a:buNone/>
            </a:pPr>
            <a:r>
              <a:rPr lang="en-US" b="1" dirty="0" smtClean="0"/>
              <a:t> </a:t>
            </a:r>
            <a:endParaRPr lang="en-US" dirty="0" smtClean="0"/>
          </a:p>
          <a:p>
            <a:r>
              <a:rPr lang="en-US" dirty="0" smtClean="0"/>
              <a:t>Design and Development of Automotive Material Handling Trolley</a:t>
            </a:r>
          </a:p>
          <a:p>
            <a:pPr>
              <a:buNone/>
            </a:pPr>
            <a:r>
              <a:rPr lang="en-US" b="1" dirty="0" smtClean="0"/>
              <a:t> </a:t>
            </a:r>
            <a:endParaRPr lang="en-US" dirty="0" smtClean="0"/>
          </a:p>
          <a:p>
            <a:r>
              <a:rPr lang="en-US" dirty="0" smtClean="0"/>
              <a:t>Transportation of automotive parts within the plant and from one industry to another or from the manufacturing industry to OEMS industries is the basic need of each company. The Timely Delivery and lesser Defective parts during the transport play a major role in controlling the inventory which in turn results in the profitability of the industry. The transported parts are to be used in an assembly line or to be stored as per the future requirements. Therefore, that storage of such parts safely and for the specified duration is done by using different trolleys. The theme of the paper is to showcase the design and manufacturing of material handling trolley used in the automotive industry. In this paper, mainly focusing on a case study involving trolley which is used for storing and transporting the HVC front panels. The main motive is to design trolley with given specific load conditions, to reduce clutter and allow for streamlined picking and handling. The Modeling design is carried out by using Solid Works 2014*64 edition software and analysis of the trolley is performed using </a:t>
            </a:r>
            <a:r>
              <a:rPr lang="en-US" dirty="0" err="1" smtClean="0"/>
              <a:t>Hypermesh</a:t>
            </a:r>
            <a:r>
              <a:rPr lang="en-US" dirty="0" smtClean="0"/>
              <a:t> 2017 software. The Desired design parameters of the trolley are checked by Analytical Calculations and the Results from the software Analysis. Finally, the Paper empathizes the selection of optimum material, Dimensions, and safety conditions for the Trolley to be manufactured.</a:t>
            </a:r>
          </a:p>
          <a:p>
            <a:r>
              <a:rPr lang="en-US" b="1" dirty="0" smtClean="0"/>
              <a:t> </a:t>
            </a:r>
            <a:endParaRPr lang="en-US" dirty="0" smtClean="0"/>
          </a:p>
          <a:p>
            <a:pPr>
              <a:buNone/>
            </a:pPr>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PRINCIPLE</a:t>
            </a:r>
            <a:endParaRPr lang="en-US" dirty="0"/>
          </a:p>
        </p:txBody>
      </p:sp>
      <p:sp>
        <p:nvSpPr>
          <p:cNvPr id="3" name="Content Placeholder 2"/>
          <p:cNvSpPr>
            <a:spLocks noGrp="1"/>
          </p:cNvSpPr>
          <p:nvPr>
            <p:ph idx="1"/>
          </p:nvPr>
        </p:nvSpPr>
        <p:spPr>
          <a:xfrm>
            <a:off x="381000" y="1524000"/>
            <a:ext cx="8229600" cy="4525963"/>
          </a:xfrm>
        </p:spPr>
        <p:txBody>
          <a:bodyPr>
            <a:normAutofit fontScale="62500" lnSpcReduction="20000"/>
          </a:bodyPr>
          <a:lstStyle/>
          <a:p>
            <a:r>
              <a:rPr lang="en-US" dirty="0" smtClean="0"/>
              <a:t>Industrial trolleys work on the principle of amplifying a small physical force to move heavy items. They </a:t>
            </a:r>
            <a:r>
              <a:rPr lang="en-US" dirty="0" err="1" smtClean="0"/>
              <a:t>aredesigned</a:t>
            </a:r>
            <a:r>
              <a:rPr lang="en-US" dirty="0" smtClean="0"/>
              <a:t> to reduce the need for manual labor, which can help to prevent injuries and accidents. When loading hand trucks, keep your feet clear of the wheels. Do not exceed the manufacturer'sloadratedcdpilcity;readthecdpacityplateonthehdndtruckifyouareunsure. </a:t>
            </a:r>
            <a:r>
              <a:rPr lang="en-US" dirty="0" err="1" smtClean="0"/>
              <a:t>Placethe</a:t>
            </a:r>
            <a:r>
              <a:rPr lang="en-US" dirty="0" smtClean="0"/>
              <a:t> </a:t>
            </a:r>
            <a:r>
              <a:rPr lang="en-US" dirty="0" err="1" smtClean="0"/>
              <a:t>loadsothatitwillnotslip,shiftorfall;use</a:t>
            </a:r>
            <a:r>
              <a:rPr lang="en-US" dirty="0" smtClean="0"/>
              <a:t> the </a:t>
            </a:r>
            <a:r>
              <a:rPr lang="en-US" dirty="0" err="1" smtClean="0"/>
              <a:t>straps,if</a:t>
            </a:r>
            <a:r>
              <a:rPr lang="en-US" dirty="0" smtClean="0"/>
              <a:t> </a:t>
            </a:r>
            <a:r>
              <a:rPr lang="en-US" dirty="0" err="1" smtClean="0"/>
              <a:t>theyareprovided,tosecure</a:t>
            </a:r>
            <a:r>
              <a:rPr lang="en-US" dirty="0" smtClean="0"/>
              <a:t> </a:t>
            </a:r>
            <a:r>
              <a:rPr lang="en-US" dirty="0" smtClean="0"/>
              <a:t>theload.Forextremelybulkyorpressurizeditemssuchasgascylinders,straporchaintheitems. If your view is </a:t>
            </a:r>
            <a:r>
              <a:rPr lang="en-US" dirty="0" err="1" smtClean="0"/>
              <a:t>obstructed,ask</a:t>
            </a:r>
            <a:r>
              <a:rPr lang="en-US" dirty="0" smtClean="0"/>
              <a:t> a spotter to assist in guiding the load Do not </a:t>
            </a:r>
            <a:r>
              <a:rPr lang="en-US" dirty="0" err="1" smtClean="0"/>
              <a:t>wakbackwardwith</a:t>
            </a:r>
            <a:r>
              <a:rPr lang="en-US" dirty="0" smtClean="0"/>
              <a:t> the hand truck. If your view is obstructed, ask a spotter to assist in guiding the load. Do not walk </a:t>
            </a:r>
            <a:r>
              <a:rPr lang="en-US" dirty="0" err="1" smtClean="0"/>
              <a:t>backwardwith</a:t>
            </a:r>
            <a:r>
              <a:rPr lang="en-US" dirty="0" smtClean="0"/>
              <a:t> the </a:t>
            </a:r>
            <a:r>
              <a:rPr lang="en-US" dirty="0" err="1" smtClean="0"/>
              <a:t>handtruck,unless</a:t>
            </a:r>
            <a:r>
              <a:rPr lang="en-US" dirty="0" smtClean="0"/>
              <a:t> </a:t>
            </a:r>
            <a:r>
              <a:rPr lang="en-US" dirty="0" err="1" smtClean="0"/>
              <a:t>goingup</a:t>
            </a:r>
            <a:r>
              <a:rPr lang="en-US" dirty="0" smtClean="0"/>
              <a:t> stairs or </a:t>
            </a:r>
            <a:r>
              <a:rPr lang="en-US" dirty="0" err="1" smtClean="0"/>
              <a:t>ramps.Whengoingdownan</a:t>
            </a:r>
            <a:r>
              <a:rPr lang="en-US" dirty="0" smtClean="0"/>
              <a:t> incline, keep the hand truck in </a:t>
            </a:r>
            <a:r>
              <a:rPr lang="en-US" dirty="0" err="1" smtClean="0"/>
              <a:t>ñont</a:t>
            </a:r>
            <a:r>
              <a:rPr lang="en-US" dirty="0" smtClean="0"/>
              <a:t> of you so that it can </a:t>
            </a:r>
            <a:r>
              <a:rPr lang="en-US" dirty="0" err="1" smtClean="0"/>
              <a:t>becontrolled</a:t>
            </a:r>
            <a:r>
              <a:rPr lang="en-US" dirty="0" smtClean="0"/>
              <a:t> at all times. Move hand trucks at a </a:t>
            </a:r>
            <a:r>
              <a:rPr lang="en-US" dirty="0" err="1" smtClean="0"/>
              <a:t>wakingpace</a:t>
            </a:r>
            <a:r>
              <a:rPr lang="en-US" dirty="0" smtClean="0"/>
              <a:t> Store hand trucks with the </a:t>
            </a:r>
            <a:r>
              <a:rPr lang="en-US" dirty="0" err="1" smtClean="0"/>
              <a:t>tongueunder</a:t>
            </a:r>
            <a:r>
              <a:rPr lang="en-US" dirty="0" smtClean="0"/>
              <a:t> a pallet, shelf, or table.</a:t>
            </a:r>
          </a:p>
          <a:p>
            <a:endParaRPr lang="en-US" dirty="0"/>
          </a:p>
        </p:txBody>
      </p:sp>
    </p:spTree>
    <p:extLst>
      <p:ext uri="{BB962C8B-B14F-4D97-AF65-F5344CB8AC3E}">
        <p14:creationId xmlns:p14="http://schemas.microsoft.com/office/powerpoint/2010/main" xmlns="" val="6525984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MAJOR COMPONENTS</a:t>
            </a:r>
            <a:r>
              <a:rPr lang="en-US" dirty="0" smtClean="0"/>
              <a:t/>
            </a:r>
            <a:br>
              <a:rPr lang="en-US" dirty="0" smtClean="0"/>
            </a:br>
            <a:r>
              <a:rPr lang="en-US" b="1" dirty="0" smtClean="0"/>
              <a:t> </a:t>
            </a:r>
            <a:r>
              <a:rPr lang="en-US" dirty="0" smtClean="0"/>
              <a:t/>
            </a:r>
            <a:br>
              <a:rPr lang="en-US" dirty="0" smtClean="0"/>
            </a:br>
            <a:r>
              <a:rPr lang="en-US" b="1" dirty="0" smtClean="0"/>
              <a:t> </a:t>
            </a:r>
            <a:r>
              <a:rPr lang="en-US" dirty="0" smtClean="0"/>
              <a:t/>
            </a:r>
            <a:br>
              <a:rPr lang="en-US" dirty="0" smtClean="0"/>
            </a:br>
            <a:r>
              <a:rPr lang="en-US" b="1" dirty="0" smtClean="0"/>
              <a:t>MAJOR COMPONENTS</a:t>
            </a:r>
            <a:r>
              <a:rPr lang="en-US" dirty="0" smtClean="0"/>
              <a:t/>
            </a:r>
            <a:br>
              <a:rPr lang="en-US" dirty="0" smtClean="0"/>
            </a:br>
            <a:r>
              <a:rPr lang="en-US" b="1" dirty="0" smtClean="0"/>
              <a:t> </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smtClean="0"/>
              <a:t>FRAME</a:t>
            </a:r>
          </a:p>
          <a:p>
            <a:pPr marL="514350" indent="-514350">
              <a:buFont typeface="+mj-lt"/>
              <a:buAutoNum type="arabicPeriod"/>
            </a:pPr>
            <a:r>
              <a:rPr lang="en-US" dirty="0" smtClean="0"/>
              <a:t>WHEEL</a:t>
            </a:r>
          </a:p>
          <a:p>
            <a:pPr marL="514350" indent="-514350">
              <a:buFont typeface="+mj-lt"/>
              <a:buAutoNum type="arabicPeriod"/>
            </a:pPr>
            <a:r>
              <a:rPr lang="en-US" dirty="0" smtClean="0"/>
              <a:t>SHAFT</a:t>
            </a:r>
          </a:p>
          <a:p>
            <a:pPr marL="514350" indent="-514350">
              <a:buFont typeface="+mj-lt"/>
              <a:buAutoNum type="arabicPeriod"/>
            </a:pPr>
            <a:r>
              <a:rPr lang="en-US" dirty="0" smtClean="0"/>
              <a:t>METAL STRIP</a:t>
            </a:r>
          </a:p>
          <a:p>
            <a:pPr marL="514350" indent="-514350">
              <a:buFont typeface="+mj-lt"/>
              <a:buAutoNum type="arabicPeriod"/>
            </a:pPr>
            <a:r>
              <a:rPr lang="en-US" dirty="0" smtClean="0"/>
              <a:t>CHAIN DRIVE</a:t>
            </a:r>
          </a:p>
          <a:p>
            <a:pPr marL="514350" indent="-514350">
              <a:buFont typeface="+mj-lt"/>
              <a:buAutoNum type="arabicPeriod"/>
            </a:pPr>
            <a:r>
              <a:rPr lang="en-US" dirty="0" smtClean="0"/>
              <a:t>BEARING</a:t>
            </a:r>
          </a:p>
          <a:p>
            <a:pPr marL="514350" indent="-514350">
              <a:buFont typeface="+mj-lt"/>
              <a:buAutoNum type="arabicPeriod"/>
            </a:pPr>
            <a:r>
              <a:rPr lang="en-US" dirty="0" smtClean="0"/>
              <a:t>SHEET METAL</a:t>
            </a:r>
          </a:p>
          <a:p>
            <a:pPr marL="514350" indent="-514350">
              <a:buFont typeface="+mj-lt"/>
              <a:buAutoNum type="arabicPeriod"/>
            </a:pPr>
            <a:r>
              <a:rPr lang="en-US" dirty="0" smtClean="0"/>
              <a:t>DISC</a:t>
            </a:r>
            <a:endParaRPr lang="en-US" dirty="0"/>
          </a:p>
        </p:txBody>
      </p:sp>
    </p:spTree>
    <p:extLst>
      <p:ext uri="{BB962C8B-B14F-4D97-AF65-F5344CB8AC3E}">
        <p14:creationId xmlns:p14="http://schemas.microsoft.com/office/powerpoint/2010/main" xmlns="" val="21052326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SHEET METAL</a:t>
            </a:r>
            <a:endParaRPr lang="en-US" dirty="0"/>
          </a:p>
        </p:txBody>
      </p:sp>
      <p:sp>
        <p:nvSpPr>
          <p:cNvPr id="3" name="Content Placeholder 2"/>
          <p:cNvSpPr>
            <a:spLocks noGrp="1"/>
          </p:cNvSpPr>
          <p:nvPr>
            <p:ph idx="1"/>
          </p:nvPr>
        </p:nvSpPr>
        <p:spPr/>
        <p:txBody>
          <a:bodyPr/>
          <a:lstStyle/>
          <a:p>
            <a:r>
              <a:rPr lang="en-US" sz="1600" dirty="0" smtClean="0">
                <a:latin typeface="Times New Roman" panose="02020603050405020304" pitchFamily="18" charset="0"/>
                <a:cs typeface="Times New Roman" panose="02020603050405020304" pitchFamily="18" charset="0"/>
              </a:rPr>
              <a:t>Sheet metal is used to make the collecting box.</a:t>
            </a:r>
          </a:p>
          <a:p>
            <a:r>
              <a:rPr lang="en-US" sz="1600" dirty="0" smtClean="0">
                <a:latin typeface="Times New Roman" panose="02020603050405020304" pitchFamily="18" charset="0"/>
                <a:cs typeface="Times New Roman" panose="02020603050405020304" pitchFamily="18" charset="0"/>
              </a:rPr>
              <a:t>Material	-	G I SHEET</a:t>
            </a:r>
          </a:p>
          <a:p>
            <a:r>
              <a:rPr lang="en-US" sz="1600" dirty="0" smtClean="0">
                <a:latin typeface="Times New Roman" panose="02020603050405020304" pitchFamily="18" charset="0"/>
                <a:cs typeface="Times New Roman" panose="02020603050405020304" pitchFamily="18" charset="0"/>
              </a:rPr>
              <a:t>Size		-	40*15cm</a:t>
            </a:r>
          </a:p>
          <a:p>
            <a:r>
              <a:rPr lang="en-US" sz="1600" dirty="0" smtClean="0">
                <a:latin typeface="Times New Roman" panose="02020603050405020304" pitchFamily="18" charset="0"/>
                <a:cs typeface="Times New Roman" panose="02020603050405020304" pitchFamily="18" charset="0"/>
              </a:rPr>
              <a:t>Thickness	-	3mm</a:t>
            </a:r>
          </a:p>
          <a:p>
            <a:r>
              <a:rPr lang="en-US" sz="1600" dirty="0" smtClean="0">
                <a:latin typeface="Times New Roman" panose="02020603050405020304" pitchFamily="18" charset="0"/>
                <a:cs typeface="Times New Roman" panose="02020603050405020304" pitchFamily="18" charset="0"/>
              </a:rPr>
              <a:t>Quantity	-	1</a:t>
            </a:r>
          </a:p>
          <a:p>
            <a:endParaRPr lang="en-US" dirty="0" smtClean="0"/>
          </a:p>
          <a:p>
            <a:endParaRPr lang="en-US" dirty="0"/>
          </a:p>
        </p:txBody>
      </p:sp>
      <p:pic>
        <p:nvPicPr>
          <p:cNvPr id="4" name="Picture 2" descr="C:\Users\Sakthi\Desktop\images (1).jpg"/>
          <p:cNvPicPr>
            <a:picLocks noChangeAspect="1" noChangeArrowheads="1"/>
          </p:cNvPicPr>
          <p:nvPr/>
        </p:nvPicPr>
        <p:blipFill>
          <a:blip r:embed="rId2"/>
          <a:srcRect/>
          <a:stretch>
            <a:fillRect/>
          </a:stretch>
        </p:blipFill>
        <p:spPr bwMode="auto">
          <a:xfrm>
            <a:off x="3276600" y="3124200"/>
            <a:ext cx="2143125" cy="214312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CIRCULAR DISC</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Specifications:</a:t>
            </a:r>
            <a:endParaRPr lang="en-US" dirty="0" smtClean="0"/>
          </a:p>
          <a:p>
            <a:r>
              <a:rPr lang="en-US" dirty="0" smtClean="0"/>
              <a:t>Material: Mild steel</a:t>
            </a:r>
          </a:p>
          <a:p>
            <a:r>
              <a:rPr lang="en-US" dirty="0" smtClean="0"/>
              <a:t>Outer diameter: 6 inch</a:t>
            </a:r>
          </a:p>
          <a:p>
            <a:r>
              <a:rPr lang="en-US" dirty="0" smtClean="0"/>
              <a:t>Thickness: 3mm</a:t>
            </a:r>
          </a:p>
          <a:p>
            <a:endParaRPr lang="en-US" dirty="0"/>
          </a:p>
        </p:txBody>
      </p:sp>
      <p:pic>
        <p:nvPicPr>
          <p:cNvPr id="4" name="Picture 3"/>
          <p:cNvPicPr/>
          <p:nvPr/>
        </p:nvPicPr>
        <p:blipFill>
          <a:blip r:embed="rId2" cstate="print">
            <a:extLst>
              <a:ext uri="{28A0092B-C50C-407E-A947-70E740481C1C}">
                <a14:useLocalDpi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4495800" y="3429000"/>
            <a:ext cx="3047999" cy="26108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Wheel</a:t>
            </a:r>
            <a:endParaRPr lang="en-US" dirty="0"/>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Hub material: steel</a:t>
            </a:r>
          </a:p>
          <a:p>
            <a:pPr marL="0" indent="0">
              <a:buNone/>
            </a:pPr>
            <a:r>
              <a:rPr lang="en-US" dirty="0" smtClean="0">
                <a:latin typeface="Times New Roman" panose="02020603050405020304" pitchFamily="18" charset="0"/>
                <a:cs typeface="Times New Roman" panose="02020603050405020304" pitchFamily="18" charset="0"/>
              </a:rPr>
              <a:t>Tire: </a:t>
            </a:r>
            <a:r>
              <a:rPr lang="en-US" dirty="0" smtClean="0">
                <a:latin typeface="Times New Roman" panose="02020603050405020304" pitchFamily="18" charset="0"/>
                <a:cs typeface="Times New Roman" panose="02020603050405020304" pitchFamily="18" charset="0"/>
              </a:rPr>
              <a:t>PLASTIC </a:t>
            </a:r>
            <a:endParaRPr lang="en-US" dirty="0" smtClean="0">
              <a:latin typeface="Times New Roman" panose="02020603050405020304" pitchFamily="18" charset="0"/>
              <a:cs typeface="Times New Roman" panose="02020603050405020304" pitchFamily="18" charset="0"/>
            </a:endParaRPr>
          </a:p>
          <a:p>
            <a:endParaRPr lang="en-US" dirty="0"/>
          </a:p>
        </p:txBody>
      </p:sp>
      <p:pic>
        <p:nvPicPr>
          <p:cNvPr id="5" name="Picture 2" descr="Related image"/>
          <p:cNvPicPr>
            <a:picLocks noChangeAspect="1" noChangeArrowheads="1"/>
          </p:cNvPicPr>
          <p:nvPr/>
        </p:nvPicPr>
        <p:blipFill>
          <a:blip r:embed="rId2"/>
          <a:srcRect/>
          <a:stretch>
            <a:fillRect/>
          </a:stretch>
        </p:blipFill>
        <p:spPr bwMode="auto">
          <a:xfrm>
            <a:off x="2590800" y="3200400"/>
            <a:ext cx="1784350" cy="2786063"/>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 DRIVE</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1800" dirty="0" smtClean="0">
                <a:latin typeface="Times New Roman" pitchFamily="18" charset="0"/>
                <a:cs typeface="Times New Roman" pitchFamily="18" charset="0"/>
              </a:rPr>
              <a:t>Chain drive is a way of transmitting mechanical power from one place to another. It is often used to convey power to the wheels of a vehicle, particularly bicycles and motorcycles.</a:t>
            </a:r>
          </a:p>
          <a:p>
            <a:pPr algn="just">
              <a:lnSpc>
                <a:spcPct val="150000"/>
              </a:lnSpc>
            </a:pPr>
            <a:r>
              <a:rPr lang="en-US" sz="1800" dirty="0" smtClean="0">
                <a:latin typeface="Times New Roman" pitchFamily="18" charset="0"/>
                <a:cs typeface="Times New Roman" pitchFamily="18" charset="0"/>
              </a:rPr>
              <a:t>he power is conveyed by a roller chain, known as the drive chain, passing over a sprocket gear, with the teeth of the gear meshing with the holes in the links of the chain. The gear is turned, and this pulls the chain putting mechanical force</a:t>
            </a:r>
            <a:endParaRPr lang="en-US" sz="1800" dirty="0" smtClean="0"/>
          </a:p>
          <a:p>
            <a:endParaRPr lang="en-US" dirty="0"/>
          </a:p>
        </p:txBody>
      </p:sp>
      <p:pic>
        <p:nvPicPr>
          <p:cNvPr id="4" name="Picture 2" descr="C:\Users\Sakthi\Desktop\download (5).jpg"/>
          <p:cNvPicPr>
            <a:picLocks noChangeAspect="1" noChangeArrowheads="1"/>
          </p:cNvPicPr>
          <p:nvPr/>
        </p:nvPicPr>
        <p:blipFill>
          <a:blip r:embed="rId2"/>
          <a:srcRect/>
          <a:stretch>
            <a:fillRect/>
          </a:stretch>
        </p:blipFill>
        <p:spPr bwMode="auto">
          <a:xfrm>
            <a:off x="1524000" y="4267200"/>
            <a:ext cx="2790825" cy="1638300"/>
          </a:xfrm>
          <a:prstGeom prst="rect">
            <a:avLst/>
          </a:prstGeom>
          <a:noFill/>
        </p:spPr>
      </p:pic>
      <p:pic>
        <p:nvPicPr>
          <p:cNvPr id="5" name="Picture 4"/>
          <p:cNvPicPr>
            <a:picLocks noChangeAspect="1" noChangeArrowheads="1"/>
          </p:cNvPicPr>
          <p:nvPr/>
        </p:nvPicPr>
        <p:blipFill>
          <a:blip r:embed="rId3"/>
          <a:srcRect/>
          <a:stretch>
            <a:fillRect/>
          </a:stretch>
        </p:blipFill>
        <p:spPr bwMode="auto">
          <a:xfrm>
            <a:off x="5410200" y="4343400"/>
            <a:ext cx="2447925" cy="13430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Material: Mild steel</a:t>
            </a:r>
          </a:p>
          <a:p>
            <a:endParaRPr lang="en-US" dirty="0"/>
          </a:p>
        </p:txBody>
      </p:sp>
      <p:pic>
        <p:nvPicPr>
          <p:cNvPr id="7" name="Picture 5" descr="C:\Users\Sakthi\Desktop\stainless-steel-square-pipes-tubes3.jpg"/>
          <p:cNvPicPr>
            <a:picLocks noChangeAspect="1" noChangeArrowheads="1"/>
          </p:cNvPicPr>
          <p:nvPr/>
        </p:nvPicPr>
        <p:blipFill>
          <a:blip r:embed="rId2"/>
          <a:srcRect/>
          <a:stretch>
            <a:fillRect/>
          </a:stretch>
        </p:blipFill>
        <p:spPr bwMode="auto">
          <a:xfrm>
            <a:off x="914400" y="3352800"/>
            <a:ext cx="2667000" cy="1581150"/>
          </a:xfrm>
          <a:prstGeom prst="rect">
            <a:avLst/>
          </a:prstGeom>
          <a:noFill/>
        </p:spPr>
      </p:pic>
      <p:pic>
        <p:nvPicPr>
          <p:cNvPr id="9" name="Content Placeholder 3" descr="C:\Users\Sakthi\Desktop\download.jpg"/>
          <p:cNvPicPr>
            <a:picLocks noChangeAspect="1" noChangeArrowheads="1"/>
          </p:cNvPicPr>
          <p:nvPr/>
        </p:nvPicPr>
        <p:blipFill>
          <a:blip r:embed="rId3"/>
          <a:srcRect/>
          <a:stretch>
            <a:fillRect/>
          </a:stretch>
        </p:blipFill>
        <p:spPr bwMode="auto">
          <a:xfrm>
            <a:off x="5029200" y="2362200"/>
            <a:ext cx="3100386" cy="2843212"/>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METAL STRIP</a:t>
            </a:r>
            <a:endParaRPr lang="en-US" dirty="0"/>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Specifications</a:t>
            </a:r>
          </a:p>
          <a:p>
            <a:pPr marL="0" indent="0">
              <a:buNone/>
            </a:pPr>
            <a:r>
              <a:rPr lang="en-US" dirty="0" smtClean="0">
                <a:latin typeface="Times New Roman" panose="02020603050405020304" pitchFamily="18" charset="0"/>
                <a:cs typeface="Times New Roman" panose="02020603050405020304" pitchFamily="18" charset="0"/>
              </a:rPr>
              <a:t>Material: Mild Steel Strip</a:t>
            </a:r>
          </a:p>
          <a:p>
            <a:pPr marL="0" indent="0">
              <a:buNone/>
            </a:pPr>
            <a:r>
              <a:rPr lang="en-US" dirty="0" smtClean="0">
                <a:latin typeface="Times New Roman" panose="02020603050405020304" pitchFamily="18" charset="0"/>
                <a:cs typeface="Times New Roman" panose="02020603050405020304" pitchFamily="18" charset="0"/>
              </a:rPr>
              <a:t>Length:40cm</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Width:5cm</a:t>
            </a:r>
          </a:p>
          <a:p>
            <a:pPr marL="0" indent="0">
              <a:buNone/>
            </a:pPr>
            <a:r>
              <a:rPr lang="en-US" b="1" dirty="0" smtClean="0">
                <a:latin typeface="Times New Roman" panose="02020603050405020304" pitchFamily="18" charset="0"/>
                <a:cs typeface="Times New Roman" panose="02020603050405020304" pitchFamily="18" charset="0"/>
              </a:rPr>
              <a:t>Specifications</a:t>
            </a:r>
          </a:p>
          <a:p>
            <a:pPr marL="0" indent="0">
              <a:buNone/>
            </a:pPr>
            <a:r>
              <a:rPr lang="en-US" dirty="0" smtClean="0">
                <a:latin typeface="Times New Roman" panose="02020603050405020304" pitchFamily="18" charset="0"/>
                <a:cs typeface="Times New Roman" panose="02020603050405020304" pitchFamily="18" charset="0"/>
              </a:rPr>
              <a:t>Length:60cm</a:t>
            </a:r>
          </a:p>
          <a:p>
            <a:pPr marL="0" indent="0">
              <a:buNone/>
            </a:pPr>
            <a:r>
              <a:rPr lang="en-US" dirty="0" smtClean="0">
                <a:latin typeface="Times New Roman" panose="02020603050405020304" pitchFamily="18" charset="0"/>
                <a:cs typeface="Times New Roman" panose="02020603050405020304" pitchFamily="18" charset="0"/>
              </a:rPr>
              <a:t>Width:5cm</a:t>
            </a:r>
          </a:p>
          <a:p>
            <a:endParaRPr lang="en-US" dirty="0"/>
          </a:p>
        </p:txBody>
      </p:sp>
      <p:pic>
        <p:nvPicPr>
          <p:cNvPr id="4" name="Picture 5" descr="C:\Users\Sakthi\Desktop\31680284-9a71-44cc-84a6-5e2a8b2fa999-1.jpg"/>
          <p:cNvPicPr>
            <a:picLocks noChangeAspect="1" noChangeArrowheads="1"/>
          </p:cNvPicPr>
          <p:nvPr/>
        </p:nvPicPr>
        <p:blipFill>
          <a:blip r:embed="rId2"/>
          <a:srcRect/>
          <a:stretch>
            <a:fillRect/>
          </a:stretch>
        </p:blipFill>
        <p:spPr bwMode="auto">
          <a:xfrm>
            <a:off x="5410200" y="2819400"/>
            <a:ext cx="2814638" cy="104775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SHAFT</a:t>
            </a:r>
            <a:endParaRPr lang="en-US" dirty="0"/>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Shaft diameter: 12mm</a:t>
            </a:r>
          </a:p>
          <a:p>
            <a:pPr marL="0" indent="0">
              <a:buNone/>
            </a:pPr>
            <a:r>
              <a:rPr lang="en-US" dirty="0" smtClean="0">
                <a:latin typeface="Times New Roman" panose="02020603050405020304" pitchFamily="18" charset="0"/>
                <a:cs typeface="Times New Roman" panose="02020603050405020304" pitchFamily="18" charset="0"/>
              </a:rPr>
              <a:t>Material: mild steel</a:t>
            </a:r>
          </a:p>
          <a:p>
            <a:endParaRPr lang="en-US" dirty="0"/>
          </a:p>
        </p:txBody>
      </p:sp>
      <p:pic>
        <p:nvPicPr>
          <p:cNvPr id="6" name="Picture 2" descr="C:\Users\Sakthi\Desktop\12369-01.jpg"/>
          <p:cNvPicPr>
            <a:picLocks noChangeAspect="1" noChangeArrowheads="1"/>
          </p:cNvPicPr>
          <p:nvPr/>
        </p:nvPicPr>
        <p:blipFill>
          <a:blip r:embed="rId2" cstate="print"/>
          <a:srcRect/>
          <a:stretch>
            <a:fillRect/>
          </a:stretch>
        </p:blipFill>
        <p:spPr bwMode="auto">
          <a:xfrm>
            <a:off x="2362200" y="3352800"/>
            <a:ext cx="2471739" cy="191452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DESIGN OF BALL BEARING</a:t>
            </a:r>
            <a:endParaRPr lang="en-US" dirty="0"/>
          </a:p>
        </p:txBody>
      </p:sp>
      <p:sp>
        <p:nvSpPr>
          <p:cNvPr id="3" name="Content Placeholder 2"/>
          <p:cNvSpPr>
            <a:spLocks noGrp="1"/>
          </p:cNvSpPr>
          <p:nvPr>
            <p:ph idx="1"/>
          </p:nvPr>
        </p:nvSpPr>
        <p:spPr/>
        <p:txBody>
          <a:bodyPr>
            <a:normAutofit/>
          </a:bodyPr>
          <a:lstStyle/>
          <a:p>
            <a:r>
              <a:rPr lang="en-US" sz="2400" dirty="0" smtClean="0"/>
              <a:t>A </a:t>
            </a:r>
            <a:r>
              <a:rPr lang="en-US" sz="2400" b="1" dirty="0" smtClean="0"/>
              <a:t>bearing</a:t>
            </a:r>
            <a:r>
              <a:rPr lang="en-US" sz="2400" dirty="0" smtClean="0"/>
              <a:t> is a machine element that constrains relative motion to only the desired motion, and reduces friction between moving parts. The design of the bearing may, for example, provide for free linear movement of the moving part or for free rotation around a fixed axis; or, it may </a:t>
            </a:r>
            <a:r>
              <a:rPr lang="en-US" sz="2400" i="1" dirty="0" smtClean="0"/>
              <a:t>prevent</a:t>
            </a:r>
            <a:r>
              <a:rPr lang="en-US" sz="2400" dirty="0" smtClean="0"/>
              <a:t> a motion by controlling the vectors of normal forces that bear on the moving parts</a:t>
            </a:r>
          </a:p>
          <a:p>
            <a:endParaRPr lang="en-US" dirty="0"/>
          </a:p>
        </p:txBody>
      </p:sp>
      <p:pic>
        <p:nvPicPr>
          <p:cNvPr id="4" name="Picture 3" descr="C:\Users\Shandhru\Desktop\433C5796_bc4a2b5c-58aa-455a-a4fe-d2f0cb49bc87_1024x1024.jpg"/>
          <p:cNvPicPr/>
          <p:nvPr/>
        </p:nvPicPr>
        <p:blipFill>
          <a:blip r:embed="rId2" cstate="print">
            <a:extLst>
              <a:ext uri="{28A0092B-C50C-407E-A947-70E740481C1C}">
                <a14:useLocalDpi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5791200" y="4191000"/>
            <a:ext cx="1400176" cy="1295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ADVANTAGES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40000" lnSpcReduction="20000"/>
          </a:bodyPr>
          <a:lstStyle/>
          <a:p>
            <a:pPr lvl="0"/>
            <a:r>
              <a:rPr lang="en-US" dirty="0" smtClean="0"/>
              <a:t>Reduced fatigue and </a:t>
            </a:r>
            <a:r>
              <a:rPr lang="en-US" dirty="0" err="1" smtClean="0"/>
              <a:t>improvedergonomics</a:t>
            </a:r>
            <a:r>
              <a:rPr lang="en-US" dirty="0" smtClean="0"/>
              <a:t>.</a:t>
            </a:r>
          </a:p>
          <a:p>
            <a:pPr>
              <a:buNone/>
            </a:pPr>
            <a:r>
              <a:rPr lang="en-US" dirty="0" smtClean="0"/>
              <a:t> </a:t>
            </a:r>
          </a:p>
          <a:p>
            <a:pPr lvl="0"/>
            <a:r>
              <a:rPr lang="en-US" dirty="0" err="1" smtClean="0"/>
              <a:t>Appropriateformanytypesofloads</a:t>
            </a:r>
            <a:r>
              <a:rPr lang="en-US" dirty="0" smtClean="0"/>
              <a:t>.</a:t>
            </a:r>
          </a:p>
          <a:p>
            <a:pPr>
              <a:buNone/>
            </a:pPr>
            <a:r>
              <a:rPr lang="en-US" dirty="0" smtClean="0"/>
              <a:t> </a:t>
            </a:r>
          </a:p>
          <a:p>
            <a:pPr lvl="0"/>
            <a:r>
              <a:rPr lang="en-US" dirty="0" smtClean="0"/>
              <a:t>Reduced </a:t>
            </a:r>
            <a:r>
              <a:rPr lang="en-US" dirty="0" err="1" smtClean="0"/>
              <a:t>riskofaccidentsandinjurywhen</a:t>
            </a:r>
            <a:r>
              <a:rPr lang="en-US" dirty="0" smtClean="0"/>
              <a:t>.</a:t>
            </a:r>
          </a:p>
          <a:p>
            <a:pPr>
              <a:buNone/>
            </a:pPr>
            <a:r>
              <a:rPr lang="en-US" dirty="0" smtClean="0"/>
              <a:t> </a:t>
            </a:r>
          </a:p>
          <a:p>
            <a:pPr lvl="0"/>
            <a:r>
              <a:rPr lang="en-US" dirty="0" smtClean="0"/>
              <a:t>Protection </a:t>
            </a:r>
            <a:r>
              <a:rPr lang="en-US" dirty="0" err="1" smtClean="0"/>
              <a:t>oftransportedgoods</a:t>
            </a:r>
            <a:r>
              <a:rPr lang="en-US" dirty="0" smtClean="0"/>
              <a:t>.</a:t>
            </a:r>
          </a:p>
          <a:p>
            <a:pPr>
              <a:buNone/>
            </a:pPr>
            <a:r>
              <a:rPr lang="en-US" dirty="0" smtClean="0"/>
              <a:t> </a:t>
            </a:r>
          </a:p>
          <a:p>
            <a:pPr lvl="0"/>
            <a:r>
              <a:rPr lang="en-US" dirty="0" smtClean="0"/>
              <a:t>Increased productivity</a:t>
            </a:r>
            <a:r>
              <a:rPr lang="en-US" dirty="0" smtClean="0"/>
              <a:t>.</a:t>
            </a:r>
          </a:p>
          <a:p>
            <a:pPr>
              <a:buNone/>
            </a:pPr>
            <a:r>
              <a:rPr lang="en-US" dirty="0" smtClean="0"/>
              <a:t> </a:t>
            </a:r>
          </a:p>
          <a:p>
            <a:pPr lvl="0"/>
            <a:r>
              <a:rPr lang="en-US" dirty="0" smtClean="0"/>
              <a:t>Hygienic benefits</a:t>
            </a:r>
            <a:r>
              <a:rPr lang="en-US" dirty="0" smtClean="0"/>
              <a:t>.</a:t>
            </a:r>
          </a:p>
          <a:p>
            <a:pPr>
              <a:buNone/>
            </a:pPr>
            <a:r>
              <a:rPr lang="en-US" dirty="0" smtClean="0"/>
              <a:t> </a:t>
            </a:r>
          </a:p>
          <a:p>
            <a:pPr lvl="0"/>
            <a:r>
              <a:rPr lang="en-US" dirty="0" smtClean="0"/>
              <a:t>Easy t o maintain</a:t>
            </a:r>
            <a:r>
              <a:rPr lang="en-US" dirty="0" smtClean="0"/>
              <a:t>.</a:t>
            </a:r>
          </a:p>
          <a:p>
            <a:pPr>
              <a:buNone/>
            </a:pPr>
            <a:r>
              <a:rPr lang="en-US" dirty="0" smtClean="0"/>
              <a:t> </a:t>
            </a:r>
          </a:p>
          <a:p>
            <a:pPr lvl="0"/>
            <a:r>
              <a:rPr lang="en-US" dirty="0" smtClean="0"/>
              <a:t>They can be fold </a:t>
            </a:r>
            <a:r>
              <a:rPr lang="en-US" dirty="0" err="1" smtClean="0"/>
              <a:t>edandstored</a:t>
            </a:r>
            <a:r>
              <a:rPr lang="en-US" dirty="0" smtClean="0"/>
              <a:t> easily</a:t>
            </a:r>
            <a:r>
              <a:rPr lang="en-US" dirty="0" smtClean="0"/>
              <a:t>.</a:t>
            </a:r>
          </a:p>
          <a:p>
            <a:r>
              <a:rPr lang="en-US" dirty="0" smtClean="0"/>
              <a:t> </a:t>
            </a:r>
          </a:p>
          <a:p>
            <a:pPr lvl="0"/>
            <a:r>
              <a:rPr lang="en-US" dirty="0" err="1" smtClean="0"/>
              <a:t>Transpor</a:t>
            </a:r>
            <a:r>
              <a:rPr lang="en-US" dirty="0" err="1" smtClean="0"/>
              <a:t>t</a:t>
            </a:r>
            <a:r>
              <a:rPr lang="en-US" dirty="0" err="1" smtClean="0"/>
              <a:t>the</a:t>
            </a:r>
            <a:r>
              <a:rPr lang="en-US" dirty="0" smtClean="0"/>
              <a:t> goods </a:t>
            </a:r>
            <a:r>
              <a:rPr lang="en-US" dirty="0" smtClean="0"/>
              <a:t>easily.</a:t>
            </a:r>
          </a:p>
          <a:p>
            <a:pPr>
              <a:buNone/>
            </a:pPr>
            <a:r>
              <a:rPr lang="en-US" dirty="0" smtClean="0"/>
              <a:t> </a:t>
            </a:r>
          </a:p>
          <a:p>
            <a:pPr lvl="0"/>
            <a:r>
              <a:rPr lang="en-US" dirty="0" err="1" smtClean="0"/>
              <a:t>Initialc</a:t>
            </a:r>
            <a:r>
              <a:rPr lang="en-US" dirty="0" smtClean="0"/>
              <a:t> </a:t>
            </a:r>
            <a:r>
              <a:rPr lang="en-US" dirty="0" err="1" smtClean="0"/>
              <a:t>ostis</a:t>
            </a:r>
            <a:r>
              <a:rPr lang="en-US" dirty="0" smtClean="0"/>
              <a:t> more</a:t>
            </a:r>
            <a:r>
              <a:rPr lang="en-US" dirty="0" smtClean="0"/>
              <a:t>.</a:t>
            </a:r>
          </a:p>
          <a:p>
            <a:pPr>
              <a:buNone/>
            </a:pPr>
            <a:r>
              <a:rPr lang="en-US" dirty="0" smtClean="0"/>
              <a:t>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DIS ADVANTAGES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pPr lvl="0"/>
            <a:r>
              <a:rPr lang="en-US" dirty="0" err="1" smtClean="0"/>
              <a:t>Loadcapacityisless</a:t>
            </a:r>
            <a:r>
              <a:rPr lang="en-US" dirty="0" smtClean="0"/>
              <a:t>.</a:t>
            </a:r>
          </a:p>
          <a:p>
            <a:pPr>
              <a:buNone/>
            </a:pPr>
            <a:r>
              <a:rPr lang="en-US" dirty="0" smtClean="0"/>
              <a:t> </a:t>
            </a:r>
          </a:p>
          <a:p>
            <a:pPr lvl="0"/>
            <a:r>
              <a:rPr lang="en-US" dirty="0" err="1" smtClean="0"/>
              <a:t>NotsuitableforhighTemperaturesensitivity</a:t>
            </a:r>
            <a:r>
              <a:rPr lang="en-US" dirty="0" smtClean="0"/>
              <a:t>.</a:t>
            </a:r>
          </a:p>
          <a:p>
            <a:pPr>
              <a:buNone/>
            </a:pPr>
            <a:r>
              <a:rPr lang="en-US" dirty="0" smtClean="0"/>
              <a:t> </a:t>
            </a:r>
          </a:p>
          <a:p>
            <a:pPr lvl="0"/>
            <a:r>
              <a:rPr lang="en-US" dirty="0" err="1" smtClean="0"/>
              <a:t>Notsuitableforheavyindustrialuse</a:t>
            </a:r>
            <a:r>
              <a:rPr lang="en-US" dirty="0" smtClean="0"/>
              <a:t>.</a:t>
            </a:r>
          </a:p>
          <a:p>
            <a:pPr>
              <a:buNone/>
            </a:pPr>
            <a:r>
              <a:rPr lang="en-US" dirty="0" smtClean="0"/>
              <a:t> </a:t>
            </a:r>
          </a:p>
          <a:p>
            <a:pPr lvl="0"/>
            <a:r>
              <a:rPr lang="en-US" dirty="0" err="1" smtClean="0"/>
              <a:t>highforceneededtopushorpullthetrolley</a:t>
            </a:r>
            <a:r>
              <a:rPr lang="en-US" dirty="0" smtClean="0"/>
              <a:t>.</a:t>
            </a:r>
          </a:p>
          <a:p>
            <a:pPr>
              <a:buNone/>
            </a:pPr>
            <a:r>
              <a:rPr lang="en-US" dirty="0" smtClean="0"/>
              <a:t> </a:t>
            </a:r>
          </a:p>
          <a:p>
            <a:pPr lvl="0"/>
            <a:r>
              <a:rPr lang="en-US" dirty="0" err="1" smtClean="0"/>
              <a:t>surfaceonlysuitableforflatroad</a:t>
            </a:r>
            <a:r>
              <a:rPr lang="en-US" dirty="0" smtClean="0"/>
              <a:t>.</a:t>
            </a:r>
          </a:p>
          <a:p>
            <a:pPr>
              <a:buNone/>
            </a:pPr>
            <a:r>
              <a:rPr lang="en-US" dirty="0" smtClean="0"/>
              <a:t> </a:t>
            </a:r>
          </a:p>
          <a:p>
            <a:pPr lvl="0"/>
            <a:r>
              <a:rPr lang="en-US" dirty="0" err="1" smtClean="0"/>
              <a:t>cannotloadmanythings</a:t>
            </a:r>
            <a:r>
              <a:rPr lang="en-US" dirty="0" smtClean="0"/>
              <a:t>.</a:t>
            </a:r>
          </a:p>
          <a:p>
            <a:pPr>
              <a:buNone/>
            </a:pPr>
            <a:r>
              <a:rPr lang="en-US" dirty="0" smtClean="0"/>
              <a:t> </a:t>
            </a:r>
          </a:p>
          <a:p>
            <a:pPr lvl="0"/>
            <a:r>
              <a:rPr lang="en-US" dirty="0" err="1" smtClean="0"/>
              <a:t>unstableforheavydutywork</a:t>
            </a:r>
            <a:r>
              <a:rPr lang="en-US" dirty="0" smtClean="0"/>
              <a: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APPLICATION</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Transporting odd-shaped good</a:t>
            </a:r>
            <a:r>
              <a:rPr lang="en-US" dirty="0" smtClean="0"/>
              <a:t>.</a:t>
            </a:r>
          </a:p>
          <a:p>
            <a:pPr>
              <a:buNone/>
            </a:pPr>
            <a:r>
              <a:rPr lang="en-US" dirty="0" smtClean="0"/>
              <a:t> </a:t>
            </a:r>
          </a:p>
          <a:p>
            <a:pPr lvl="0"/>
            <a:r>
              <a:rPr lang="en-US" dirty="0" smtClean="0"/>
              <a:t>Using in shopping </a:t>
            </a:r>
            <a:r>
              <a:rPr lang="en-US" dirty="0" err="1" smtClean="0"/>
              <a:t>Mahals</a:t>
            </a:r>
            <a:r>
              <a:rPr lang="en-US" dirty="0" smtClean="0"/>
              <a:t>.</a:t>
            </a:r>
          </a:p>
          <a:p>
            <a:pPr lvl="0"/>
            <a:r>
              <a:rPr lang="en-US" dirty="0" smtClean="0"/>
              <a:t>Using in hospital</a:t>
            </a:r>
            <a:r>
              <a:rPr lang="en-US" dirty="0" smtClean="0"/>
              <a:t>.</a:t>
            </a:r>
            <a:endParaRPr lang="en-US" dirty="0" smtClean="0"/>
          </a:p>
          <a:p>
            <a:pPr lvl="0"/>
            <a:r>
              <a:rPr lang="en-US" dirty="0" smtClean="0"/>
              <a:t>Using in auto mobile industry</a:t>
            </a:r>
            <a:r>
              <a:rPr lang="en-US" dirty="0" smtClean="0"/>
              <a:t>.</a:t>
            </a:r>
          </a:p>
          <a:p>
            <a:pPr lvl="0"/>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229600" cy="1143000"/>
          </a:xfrm>
        </p:spPr>
        <p:txBody>
          <a:bodyPr/>
          <a:lstStyle/>
          <a:p>
            <a:r>
              <a:rPr lang="en-US" b="1" dirty="0"/>
              <a:t> MATERIAL USED</a:t>
            </a:r>
            <a:endParaRPr lang="en-US" dirty="0"/>
          </a:p>
        </p:txBody>
      </p:sp>
      <p:graphicFrame>
        <p:nvGraphicFramePr>
          <p:cNvPr id="8" name="Content Placeholder 7"/>
          <p:cNvGraphicFramePr>
            <a:graphicFrameLocks noGrp="1"/>
          </p:cNvGraphicFramePr>
          <p:nvPr>
            <p:ph idx="1"/>
          </p:nvPr>
        </p:nvGraphicFramePr>
        <p:xfrm>
          <a:off x="762000" y="990600"/>
          <a:ext cx="8001000" cy="5394960"/>
        </p:xfrm>
        <a:graphic>
          <a:graphicData uri="http://schemas.openxmlformats.org/drawingml/2006/table">
            <a:tbl>
              <a:tblPr firstRow="1" bandRow="1">
                <a:tableStyleId>{5940675A-B579-460E-94D1-54222C63F5DA}</a:tableStyleId>
              </a:tblPr>
              <a:tblGrid>
                <a:gridCol w="914400"/>
                <a:gridCol w="3810000"/>
                <a:gridCol w="838200"/>
                <a:gridCol w="2438400"/>
              </a:tblGrid>
              <a:tr h="457200">
                <a:tc>
                  <a:txBody>
                    <a:bodyPr/>
                    <a:lstStyle/>
                    <a:p>
                      <a:pPr marL="0" marR="0" algn="ctr">
                        <a:lnSpc>
                          <a:spcPct val="107000"/>
                        </a:lnSpc>
                        <a:spcBef>
                          <a:spcPts val="2400"/>
                        </a:spcBef>
                        <a:spcAft>
                          <a:spcPts val="0"/>
                        </a:spcAft>
                      </a:pPr>
                      <a:r>
                        <a:rPr lang="en-US" sz="1600" b="1" kern="0" dirty="0" err="1">
                          <a:solidFill>
                            <a:srgbClr val="365F91"/>
                          </a:solidFill>
                          <a:latin typeface="Calibri"/>
                          <a:ea typeface="Times New Roman"/>
                          <a:cs typeface="Times New Roman"/>
                        </a:rPr>
                        <a:t>S.No</a:t>
                      </a:r>
                      <a:endParaRPr lang="en-US" sz="1100" b="1" kern="0" dirty="0">
                        <a:solidFill>
                          <a:srgbClr val="365F91"/>
                        </a:solidFill>
                        <a:latin typeface="Calibri"/>
                        <a:ea typeface="Times New Roman"/>
                        <a:cs typeface="Times New Roman"/>
                      </a:endParaRPr>
                    </a:p>
                  </a:txBody>
                  <a:tcPr marL="68580" marR="68580" marT="0" marB="0"/>
                </a:tc>
                <a:tc>
                  <a:txBody>
                    <a:bodyPr/>
                    <a:lstStyle/>
                    <a:p>
                      <a:pPr marL="0" marR="0" algn="ctr">
                        <a:lnSpc>
                          <a:spcPct val="107000"/>
                        </a:lnSpc>
                        <a:spcBef>
                          <a:spcPts val="2400"/>
                        </a:spcBef>
                        <a:spcAft>
                          <a:spcPts val="0"/>
                        </a:spcAft>
                      </a:pPr>
                      <a:r>
                        <a:rPr lang="en-US" sz="1600" b="1" kern="0">
                          <a:solidFill>
                            <a:srgbClr val="365F91"/>
                          </a:solidFill>
                          <a:latin typeface="Calibri"/>
                          <a:ea typeface="Times New Roman"/>
                          <a:cs typeface="Times New Roman"/>
                        </a:rPr>
                        <a:t>DESCIR</a:t>
                      </a:r>
                      <a:r>
                        <a:rPr lang="en-US" sz="1600" b="1" kern="0" spc="20">
                          <a:solidFill>
                            <a:srgbClr val="365F91"/>
                          </a:solidFill>
                          <a:latin typeface="Calibri"/>
                          <a:ea typeface="Times New Roman"/>
                          <a:cs typeface="Times New Roman"/>
                        </a:rPr>
                        <a:t>P</a:t>
                      </a:r>
                      <a:r>
                        <a:rPr lang="en-US" sz="1600" b="1" kern="0" spc="-25">
                          <a:solidFill>
                            <a:srgbClr val="365F91"/>
                          </a:solidFill>
                          <a:latin typeface="Calibri"/>
                          <a:ea typeface="Times New Roman"/>
                          <a:cs typeface="Times New Roman"/>
                        </a:rPr>
                        <a:t>T</a:t>
                      </a:r>
                      <a:r>
                        <a:rPr lang="en-US" sz="1600" b="1" kern="0">
                          <a:solidFill>
                            <a:srgbClr val="365F91"/>
                          </a:solidFill>
                          <a:latin typeface="Calibri"/>
                          <a:ea typeface="Times New Roman"/>
                          <a:cs typeface="Times New Roman"/>
                        </a:rPr>
                        <a:t>ION</a:t>
                      </a:r>
                      <a:endParaRPr lang="en-US" sz="1100" b="1" kern="0">
                        <a:solidFill>
                          <a:srgbClr val="365F91"/>
                        </a:solidFill>
                        <a:latin typeface="Calibri"/>
                        <a:ea typeface="Times New Roman"/>
                        <a:cs typeface="Times New Roman"/>
                      </a:endParaRPr>
                    </a:p>
                  </a:txBody>
                  <a:tcPr marL="68580" marR="68580" marT="0" marB="0"/>
                </a:tc>
                <a:tc>
                  <a:txBody>
                    <a:bodyPr/>
                    <a:lstStyle/>
                    <a:p>
                      <a:pPr marL="0" marR="0" algn="ctr">
                        <a:lnSpc>
                          <a:spcPct val="107000"/>
                        </a:lnSpc>
                        <a:spcBef>
                          <a:spcPts val="2400"/>
                        </a:spcBef>
                        <a:spcAft>
                          <a:spcPts val="0"/>
                        </a:spcAft>
                      </a:pPr>
                      <a:r>
                        <a:rPr lang="en-US" sz="1600" b="1" kern="0" dirty="0">
                          <a:solidFill>
                            <a:srgbClr val="365F91"/>
                          </a:solidFill>
                          <a:latin typeface="Calibri"/>
                          <a:ea typeface="Times New Roman"/>
                          <a:cs typeface="Times New Roman"/>
                        </a:rPr>
                        <a:t>QTY</a:t>
                      </a:r>
                      <a:endParaRPr lang="en-US" sz="1100" b="1" kern="0" dirty="0">
                        <a:solidFill>
                          <a:srgbClr val="365F91"/>
                        </a:solidFill>
                        <a:latin typeface="Calibri"/>
                        <a:ea typeface="Times New Roman"/>
                        <a:cs typeface="Times New Roman"/>
                      </a:endParaRPr>
                    </a:p>
                  </a:txBody>
                  <a:tcPr marL="68580" marR="68580" marT="0" marB="0"/>
                </a:tc>
                <a:tc>
                  <a:txBody>
                    <a:bodyPr/>
                    <a:lstStyle/>
                    <a:p>
                      <a:pPr marL="0" marR="0" algn="ctr">
                        <a:lnSpc>
                          <a:spcPct val="107000"/>
                        </a:lnSpc>
                        <a:spcBef>
                          <a:spcPts val="2400"/>
                        </a:spcBef>
                        <a:spcAft>
                          <a:spcPts val="0"/>
                        </a:spcAft>
                      </a:pPr>
                      <a:r>
                        <a:rPr lang="en-US" sz="1600" b="1" kern="0" dirty="0">
                          <a:solidFill>
                            <a:srgbClr val="365F91"/>
                          </a:solidFill>
                          <a:latin typeface="Calibri"/>
                          <a:ea typeface="Times New Roman"/>
                          <a:cs typeface="Times New Roman"/>
                        </a:rPr>
                        <a:t>MATERIAL</a:t>
                      </a:r>
                      <a:endParaRPr lang="en-US" sz="1100" b="1" kern="0" dirty="0">
                        <a:solidFill>
                          <a:srgbClr val="365F91"/>
                        </a:solidFill>
                        <a:latin typeface="Calibri"/>
                        <a:ea typeface="Times New Roman"/>
                        <a:cs typeface="Times New Roman"/>
                      </a:endParaRPr>
                    </a:p>
                  </a:txBody>
                  <a:tcPr marL="68580" marR="68580" marT="0" marB="0"/>
                </a:tc>
              </a:tr>
              <a:tr h="152400">
                <a:tc>
                  <a:txBody>
                    <a:bodyPr/>
                    <a:lstStyle/>
                    <a:p>
                      <a:r>
                        <a:rPr lang="en-US" dirty="0" smtClean="0"/>
                        <a:t>1.</a:t>
                      </a:r>
                      <a:endParaRPr lang="en-US" dirty="0"/>
                    </a:p>
                  </a:txBody>
                  <a:tcPr/>
                </a:tc>
                <a:tc>
                  <a:txBody>
                    <a:bodyPr/>
                    <a:lstStyle/>
                    <a:p>
                      <a:pPr algn="ctr"/>
                      <a:r>
                        <a:rPr lang="en-US" dirty="0" smtClean="0"/>
                        <a:t>CHAIN DRIVE</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STAINLESS STEEL</a:t>
                      </a:r>
                    </a:p>
                  </a:txBody>
                  <a:tcPr/>
                </a:tc>
              </a:tr>
              <a:tr h="381000">
                <a:tc>
                  <a:txBody>
                    <a:bodyPr/>
                    <a:lstStyle/>
                    <a:p>
                      <a:r>
                        <a:rPr lang="en-US" dirty="0" smtClean="0"/>
                        <a:t>2.</a:t>
                      </a:r>
                      <a:endParaRPr lang="en-US" dirty="0"/>
                    </a:p>
                  </a:txBody>
                  <a:tcPr/>
                </a:tc>
                <a:tc>
                  <a:txBody>
                    <a:bodyPr/>
                    <a:lstStyle/>
                    <a:p>
                      <a:pPr algn="ctr"/>
                      <a:r>
                        <a:rPr lang="en-US" dirty="0" smtClean="0"/>
                        <a:t>FRAME</a:t>
                      </a:r>
                      <a:endParaRPr lang="en-US" dirty="0"/>
                    </a:p>
                  </a:txBody>
                  <a:tcPr/>
                </a:tc>
                <a:tc>
                  <a:txBody>
                    <a:bodyPr/>
                    <a:lstStyle/>
                    <a:p>
                      <a:pPr algn="ctr"/>
                      <a:r>
                        <a:rPr lang="en-US" sz="900" kern="1200" dirty="0" smtClean="0">
                          <a:solidFill>
                            <a:schemeClr val="tx1"/>
                          </a:solidFill>
                          <a:latin typeface="+mn-lt"/>
                          <a:ea typeface="+mn-ea"/>
                          <a:cs typeface="+mn-cs"/>
                        </a:rPr>
                        <a:t>AS PER REQUIRMENT</a:t>
                      </a:r>
                      <a:endParaRPr lang="en-US" sz="900" dirty="0"/>
                    </a:p>
                  </a:txBody>
                  <a:tcPr/>
                </a:tc>
                <a:tc>
                  <a:txBody>
                    <a:bodyPr/>
                    <a:lstStyle/>
                    <a:p>
                      <a:pPr algn="ctr"/>
                      <a:r>
                        <a:rPr lang="en-US" sz="1800" kern="1200" dirty="0" smtClean="0">
                          <a:solidFill>
                            <a:schemeClr val="tx1"/>
                          </a:solidFill>
                          <a:latin typeface="+mn-lt"/>
                          <a:ea typeface="+mn-ea"/>
                          <a:cs typeface="+mn-cs"/>
                        </a:rPr>
                        <a:t>MILD STEEL</a:t>
                      </a:r>
                      <a:endParaRPr lang="en-US" dirty="0"/>
                    </a:p>
                  </a:txBody>
                  <a:tcPr/>
                </a:tc>
              </a:tr>
              <a:tr h="381000">
                <a:tc>
                  <a:txBody>
                    <a:bodyPr/>
                    <a:lstStyle/>
                    <a:p>
                      <a:r>
                        <a:rPr lang="en-US" dirty="0" smtClean="0"/>
                        <a:t>3..</a:t>
                      </a:r>
                      <a:endParaRPr lang="en-US" dirty="0"/>
                    </a:p>
                  </a:txBody>
                  <a:tcPr/>
                </a:tc>
                <a:tc>
                  <a:txBody>
                    <a:bodyPr/>
                    <a:lstStyle/>
                    <a:p>
                      <a:pPr algn="ctr"/>
                      <a:r>
                        <a:rPr lang="en-US" dirty="0" smtClean="0"/>
                        <a:t>SHAFT</a:t>
                      </a:r>
                      <a:endParaRPr lang="en-US" dirty="0"/>
                    </a:p>
                  </a:txBody>
                  <a:tcPr/>
                </a:tc>
                <a:tc>
                  <a:txBody>
                    <a:bodyPr/>
                    <a:lstStyle/>
                    <a:p>
                      <a:pPr algn="ctr"/>
                      <a:r>
                        <a:rPr lang="en-US" sz="900" kern="1200" dirty="0" smtClean="0">
                          <a:solidFill>
                            <a:schemeClr val="tx1"/>
                          </a:solidFill>
                          <a:latin typeface="+mn-lt"/>
                          <a:ea typeface="+mn-ea"/>
                          <a:cs typeface="+mn-cs"/>
                        </a:rPr>
                        <a:t>AS PER REQUIRMENT</a:t>
                      </a:r>
                      <a:endParaRPr lang="en-US" sz="900" dirty="0"/>
                    </a:p>
                  </a:txBody>
                  <a:tcPr/>
                </a:tc>
                <a:tc>
                  <a:txBody>
                    <a:bodyPr/>
                    <a:lstStyle/>
                    <a:p>
                      <a:pPr algn="ctr"/>
                      <a:r>
                        <a:rPr lang="en-US" sz="1800" kern="1200" dirty="0" smtClean="0">
                          <a:solidFill>
                            <a:schemeClr val="tx1"/>
                          </a:solidFill>
                          <a:latin typeface="+mn-lt"/>
                          <a:ea typeface="+mn-ea"/>
                          <a:cs typeface="+mn-cs"/>
                        </a:rPr>
                        <a:t>MILD STEEL</a:t>
                      </a:r>
                      <a:endParaRPr lang="en-US" dirty="0"/>
                    </a:p>
                  </a:txBody>
                  <a:tcPr/>
                </a:tc>
              </a:tr>
              <a:tr h="381000">
                <a:tc>
                  <a:txBody>
                    <a:bodyPr/>
                    <a:lstStyle/>
                    <a:p>
                      <a:r>
                        <a:rPr lang="en-US" dirty="0" smtClean="0"/>
                        <a:t>4.</a:t>
                      </a:r>
                      <a:endParaRPr lang="en-US" dirty="0"/>
                    </a:p>
                  </a:txBody>
                  <a:tcPr/>
                </a:tc>
                <a:tc>
                  <a:txBody>
                    <a:bodyPr/>
                    <a:lstStyle/>
                    <a:p>
                      <a:pPr algn="ctr"/>
                      <a:r>
                        <a:rPr lang="en-US" dirty="0" smtClean="0"/>
                        <a:t>METAL STRIP</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kern="1200" dirty="0" smtClean="0">
                          <a:solidFill>
                            <a:schemeClr val="tx1"/>
                          </a:solidFill>
                          <a:latin typeface="+mn-lt"/>
                          <a:ea typeface="+mn-ea"/>
                          <a:cs typeface="+mn-cs"/>
                        </a:rPr>
                        <a:t>AS PER REQUIRMENT</a:t>
                      </a:r>
                      <a:endParaRPr lang="en-US" sz="900" dirty="0" smtClean="0"/>
                    </a:p>
                  </a:txBody>
                  <a:tcPr/>
                </a:tc>
                <a:tc>
                  <a:txBody>
                    <a:bodyPr/>
                    <a:lstStyle/>
                    <a:p>
                      <a:pPr algn="ctr"/>
                      <a:r>
                        <a:rPr lang="en-US" sz="1800" kern="1200" dirty="0" smtClean="0">
                          <a:solidFill>
                            <a:schemeClr val="tx1"/>
                          </a:solidFill>
                          <a:latin typeface="+mn-lt"/>
                          <a:ea typeface="+mn-ea"/>
                          <a:cs typeface="+mn-cs"/>
                        </a:rPr>
                        <a:t>MILD STEEL</a:t>
                      </a:r>
                      <a:endParaRPr lang="en-US" dirty="0"/>
                    </a:p>
                  </a:txBody>
                  <a:tcPr/>
                </a:tc>
              </a:tr>
              <a:tr h="381000">
                <a:tc>
                  <a:txBody>
                    <a:bodyPr/>
                    <a:lstStyle/>
                    <a:p>
                      <a:r>
                        <a:rPr lang="en-US" dirty="0" smtClean="0"/>
                        <a:t>5..</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BEARING</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8</a:t>
                      </a:r>
                      <a:endParaRPr lang="en-US" sz="18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STAINLESS STEEL</a:t>
                      </a:r>
                    </a:p>
                  </a:txBody>
                  <a:tcPr/>
                </a:tc>
              </a:tr>
              <a:tr h="381000">
                <a:tc>
                  <a:txBody>
                    <a:bodyPr/>
                    <a:lstStyle/>
                    <a:p>
                      <a:r>
                        <a:rPr lang="en-US" dirty="0" smtClean="0"/>
                        <a:t>6.</a:t>
                      </a:r>
                      <a:endParaRPr lang="en-US" dirty="0"/>
                    </a:p>
                  </a:txBody>
                  <a:tcPr/>
                </a:tc>
                <a:tc>
                  <a:txBody>
                    <a:bodyPr/>
                    <a:lstStyle/>
                    <a:p>
                      <a:pPr algn="ctr"/>
                      <a:r>
                        <a:rPr lang="en-US" dirty="0" smtClean="0"/>
                        <a:t>SHEET METAL</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1</a:t>
                      </a:r>
                      <a:endParaRPr lang="en-US" sz="18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MILD STEEL</a:t>
                      </a:r>
                      <a:endParaRPr lang="en-US" dirty="0" smtClean="0"/>
                    </a:p>
                  </a:txBody>
                  <a:tcPr/>
                </a:tc>
              </a:tr>
              <a:tr h="381000">
                <a:tc>
                  <a:txBody>
                    <a:bodyPr/>
                    <a:lstStyle/>
                    <a:p>
                      <a:r>
                        <a:rPr lang="en-US" dirty="0" smtClean="0"/>
                        <a:t>7.</a:t>
                      </a:r>
                      <a:endParaRPr lang="en-US" dirty="0"/>
                    </a:p>
                  </a:txBody>
                  <a:tcPr/>
                </a:tc>
                <a:tc>
                  <a:txBody>
                    <a:bodyPr/>
                    <a:lstStyle/>
                    <a:p>
                      <a:pPr algn="ctr"/>
                      <a:r>
                        <a:rPr lang="en-US" dirty="0" smtClean="0"/>
                        <a:t>DISC</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MILD STEEL</a:t>
                      </a:r>
                      <a:endParaRPr lang="en-US" dirty="0" smtClean="0"/>
                    </a:p>
                  </a:txBody>
                  <a:tcPr/>
                </a:tc>
              </a:tr>
              <a:tr h="381000">
                <a:tc>
                  <a:txBody>
                    <a:bodyPr/>
                    <a:lstStyle/>
                    <a:p>
                      <a:r>
                        <a:rPr lang="en-US" dirty="0" smtClean="0"/>
                        <a:t>8.</a:t>
                      </a:r>
                      <a:endParaRPr lang="en-US" dirty="0"/>
                    </a:p>
                  </a:txBody>
                  <a:tcPr/>
                </a:tc>
                <a:tc>
                  <a:txBody>
                    <a:bodyPr/>
                    <a:lstStyle/>
                    <a:p>
                      <a:pPr algn="ctr"/>
                      <a:r>
                        <a:rPr lang="en-US" dirty="0" smtClean="0"/>
                        <a:t>WHEEL</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PLASTIC</a:t>
                      </a:r>
                      <a:endParaRPr lang="en-US" dirty="0" smtClean="0"/>
                    </a:p>
                  </a:txBody>
                  <a:tcPr/>
                </a:tc>
              </a:tr>
              <a:tr h="381000">
                <a:tc>
                  <a:txBody>
                    <a:bodyPr/>
                    <a:lstStyle/>
                    <a:p>
                      <a:r>
                        <a:rPr lang="en-US" dirty="0" smtClean="0"/>
                        <a:t>9.</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smtClean="0"/>
                    </a:p>
                  </a:txBody>
                  <a:tcPr/>
                </a:tc>
              </a:tr>
              <a:tr h="381000">
                <a:tc>
                  <a:txBody>
                    <a:bodyPr/>
                    <a:lstStyle/>
                    <a:p>
                      <a:pPr marL="342900" indent="-342900">
                        <a:buFont typeface="+mj-lt"/>
                        <a:buNone/>
                      </a:pPr>
                      <a:r>
                        <a:rPr lang="en-US" dirty="0" smtClean="0"/>
                        <a:t>10.</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smtClean="0"/>
                    </a:p>
                  </a:txBody>
                  <a:tcPr/>
                </a:tc>
              </a:tr>
              <a:tr h="381000">
                <a:tc>
                  <a:txBody>
                    <a:bodyPr/>
                    <a:lstStyle/>
                    <a:p>
                      <a:pPr marL="342900" indent="-342900">
                        <a:buFont typeface="+mj-lt"/>
                        <a:buNone/>
                      </a:pPr>
                      <a:r>
                        <a:rPr lang="en-US" dirty="0" smtClean="0"/>
                        <a:t>11.</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smtClean="0"/>
                    </a:p>
                  </a:txBody>
                  <a:tcPr/>
                </a:tc>
              </a:tr>
              <a:tr h="381000">
                <a:tc>
                  <a:txBody>
                    <a:bodyPr/>
                    <a:lstStyle/>
                    <a:p>
                      <a:pPr marL="342900" indent="-342900">
                        <a:buFont typeface="+mj-lt"/>
                        <a:buNone/>
                      </a:pPr>
                      <a:r>
                        <a:rPr lang="en-US" dirty="0" smtClean="0"/>
                        <a:t>12</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smtClean="0"/>
                    </a:p>
                  </a:txBody>
                  <a:tcPr/>
                </a:tc>
              </a:tr>
              <a:tr h="381000">
                <a:tc>
                  <a:txBody>
                    <a:bodyPr/>
                    <a:lstStyle/>
                    <a:p>
                      <a:pPr marL="342900" indent="-342900">
                        <a:buFont typeface="+mj-lt"/>
                        <a:buNone/>
                      </a:pPr>
                      <a:r>
                        <a:rPr lang="en-US" dirty="0" smtClean="0"/>
                        <a:t>13.</a:t>
                      </a:r>
                      <a:endParaRPr lang="en-US" dirty="0"/>
                    </a:p>
                  </a:txBody>
                  <a:tcPr/>
                </a:tc>
                <a:tc>
                  <a:txBody>
                    <a:bodyPr/>
                    <a:lstStyle/>
                    <a:p>
                      <a:pPr algn="ctr"/>
                      <a:endParaRPr lang="en-US" dirty="0"/>
                    </a:p>
                  </a:txBody>
                  <a:tcPr/>
                </a:tc>
                <a:tc>
                  <a:txBody>
                    <a:bodyPr/>
                    <a:lstStyle/>
                    <a:p>
                      <a:pPr algn="ctr"/>
                      <a:endParaRPr lang="en-US"/>
                    </a:p>
                  </a:txBody>
                  <a:tcPr/>
                </a:tc>
                <a:tc>
                  <a:txBody>
                    <a:bodyPr/>
                    <a:lstStyle/>
                    <a:p>
                      <a:pPr algn="ctr"/>
                      <a:endParaRPr lang="en-US" dirty="0"/>
                    </a:p>
                  </a:txBody>
                  <a:tcPr/>
                </a:tc>
              </a:tr>
            </a:tbl>
          </a:graphicData>
        </a:graphic>
      </p:graphicFrame>
    </p:spTree>
    <p:extLst>
      <p:ext uri="{BB962C8B-B14F-4D97-AF65-F5344CB8AC3E}">
        <p14:creationId xmlns:p14="http://schemas.microsoft.com/office/powerpoint/2010/main" xmlns="" val="786254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ESTIMATION</a:t>
            </a:r>
            <a:endParaRPr lang="en-US" dirty="0"/>
          </a:p>
        </p:txBody>
      </p:sp>
      <p:graphicFrame>
        <p:nvGraphicFramePr>
          <p:cNvPr id="4" name="Content Placeholder 3"/>
          <p:cNvGraphicFramePr>
            <a:graphicFrameLocks noGrp="1"/>
          </p:cNvGraphicFramePr>
          <p:nvPr>
            <p:ph idx="1"/>
          </p:nvPr>
        </p:nvGraphicFramePr>
        <p:xfrm>
          <a:off x="381000" y="1671683"/>
          <a:ext cx="8305800" cy="5120277"/>
        </p:xfrm>
        <a:graphic>
          <a:graphicData uri="http://schemas.openxmlformats.org/drawingml/2006/table">
            <a:tbl>
              <a:tblPr firstRow="1" bandRow="1">
                <a:tableStyleId>{5940675A-B579-460E-94D1-54222C63F5DA}</a:tableStyleId>
              </a:tblPr>
              <a:tblGrid>
                <a:gridCol w="922867"/>
                <a:gridCol w="5460294"/>
                <a:gridCol w="1922639"/>
              </a:tblGrid>
              <a:tr h="365397">
                <a:tc>
                  <a:txBody>
                    <a:bodyPr/>
                    <a:lstStyle/>
                    <a:p>
                      <a:pPr marL="0" marR="0" algn="ctr">
                        <a:lnSpc>
                          <a:spcPct val="107000"/>
                        </a:lnSpc>
                        <a:spcBef>
                          <a:spcPts val="2400"/>
                        </a:spcBef>
                        <a:spcAft>
                          <a:spcPts val="0"/>
                        </a:spcAft>
                      </a:pPr>
                      <a:r>
                        <a:rPr lang="en-US" sz="1600" b="1" kern="0" dirty="0" err="1">
                          <a:solidFill>
                            <a:srgbClr val="365F91"/>
                          </a:solidFill>
                          <a:latin typeface="Calibri"/>
                          <a:ea typeface="Times New Roman"/>
                          <a:cs typeface="Times New Roman"/>
                        </a:rPr>
                        <a:t>S.No</a:t>
                      </a:r>
                      <a:endParaRPr lang="en-US" sz="1100" b="1" kern="0" dirty="0">
                        <a:solidFill>
                          <a:srgbClr val="365F91"/>
                        </a:solidFill>
                        <a:latin typeface="Calibri"/>
                        <a:ea typeface="Times New Roman"/>
                        <a:cs typeface="Times New Roman"/>
                      </a:endParaRPr>
                    </a:p>
                  </a:txBody>
                  <a:tcPr marL="68580" marR="68580" marT="0" marB="0"/>
                </a:tc>
                <a:tc>
                  <a:txBody>
                    <a:bodyPr/>
                    <a:lstStyle/>
                    <a:p>
                      <a:pPr marL="0" marR="0" algn="ctr">
                        <a:lnSpc>
                          <a:spcPct val="107000"/>
                        </a:lnSpc>
                        <a:spcBef>
                          <a:spcPts val="2400"/>
                        </a:spcBef>
                        <a:spcAft>
                          <a:spcPts val="0"/>
                        </a:spcAft>
                      </a:pPr>
                      <a:r>
                        <a:rPr lang="en-US" sz="1600" b="1" kern="0">
                          <a:solidFill>
                            <a:srgbClr val="365F91"/>
                          </a:solidFill>
                          <a:latin typeface="Calibri"/>
                          <a:ea typeface="Times New Roman"/>
                          <a:cs typeface="Times New Roman"/>
                        </a:rPr>
                        <a:t>DESCIR</a:t>
                      </a:r>
                      <a:r>
                        <a:rPr lang="en-US" sz="1600" b="1" kern="0" spc="20">
                          <a:solidFill>
                            <a:srgbClr val="365F91"/>
                          </a:solidFill>
                          <a:latin typeface="Calibri"/>
                          <a:ea typeface="Times New Roman"/>
                          <a:cs typeface="Times New Roman"/>
                        </a:rPr>
                        <a:t>P</a:t>
                      </a:r>
                      <a:r>
                        <a:rPr lang="en-US" sz="1600" b="1" kern="0" spc="-25">
                          <a:solidFill>
                            <a:srgbClr val="365F91"/>
                          </a:solidFill>
                          <a:latin typeface="Calibri"/>
                          <a:ea typeface="Times New Roman"/>
                          <a:cs typeface="Times New Roman"/>
                        </a:rPr>
                        <a:t>T</a:t>
                      </a:r>
                      <a:r>
                        <a:rPr lang="en-US" sz="1600" b="1" kern="0">
                          <a:solidFill>
                            <a:srgbClr val="365F91"/>
                          </a:solidFill>
                          <a:latin typeface="Calibri"/>
                          <a:ea typeface="Times New Roman"/>
                          <a:cs typeface="Times New Roman"/>
                        </a:rPr>
                        <a:t>ION</a:t>
                      </a:r>
                      <a:endParaRPr lang="en-US" sz="1100" b="1" kern="0">
                        <a:solidFill>
                          <a:srgbClr val="365F91"/>
                        </a:solidFill>
                        <a:latin typeface="Calibri"/>
                        <a:ea typeface="Times New Roman"/>
                        <a:cs typeface="Times New Roman"/>
                      </a:endParaRPr>
                    </a:p>
                  </a:txBody>
                  <a:tcPr marL="68580" marR="68580" marT="0" marB="0"/>
                </a:tc>
                <a:tc>
                  <a:txBody>
                    <a:bodyPr/>
                    <a:lstStyle/>
                    <a:p>
                      <a:pPr marL="0" marR="0" algn="ctr">
                        <a:lnSpc>
                          <a:spcPct val="107000"/>
                        </a:lnSpc>
                        <a:spcBef>
                          <a:spcPts val="2400"/>
                        </a:spcBef>
                        <a:spcAft>
                          <a:spcPts val="0"/>
                        </a:spcAft>
                      </a:pPr>
                      <a:r>
                        <a:rPr lang="en-US" sz="1600" b="1" kern="0" dirty="0" smtClean="0">
                          <a:solidFill>
                            <a:srgbClr val="365F91"/>
                          </a:solidFill>
                          <a:latin typeface="Calibri"/>
                          <a:ea typeface="Times New Roman"/>
                          <a:cs typeface="Times New Roman"/>
                        </a:rPr>
                        <a:t>RATE</a:t>
                      </a:r>
                      <a:endParaRPr lang="en-US" sz="1100" b="1" kern="0" dirty="0">
                        <a:solidFill>
                          <a:srgbClr val="365F91"/>
                        </a:solidFill>
                        <a:latin typeface="Calibri"/>
                        <a:ea typeface="Times New Roman"/>
                        <a:cs typeface="Times New Roman"/>
                      </a:endParaRPr>
                    </a:p>
                  </a:txBody>
                  <a:tcPr marL="68580" marR="68580" marT="0" marB="0"/>
                </a:tc>
              </a:tr>
              <a:tr h="365397">
                <a:tc>
                  <a:txBody>
                    <a:bodyPr/>
                    <a:lstStyle/>
                    <a:p>
                      <a:pPr algn="ctr"/>
                      <a:r>
                        <a:rPr lang="en-US" dirty="0" smtClean="0"/>
                        <a:t>1.</a:t>
                      </a:r>
                      <a:endParaRPr lang="en-US" dirty="0"/>
                    </a:p>
                  </a:txBody>
                  <a:tcPr/>
                </a:tc>
                <a:tc>
                  <a:txBody>
                    <a:bodyPr/>
                    <a:lstStyle/>
                    <a:p>
                      <a:pPr algn="ctr"/>
                      <a:r>
                        <a:rPr lang="en-US" dirty="0" smtClean="0"/>
                        <a:t>CHAIN DRIVE</a:t>
                      </a:r>
                      <a:endParaRPr lang="en-US" dirty="0"/>
                    </a:p>
                  </a:txBody>
                  <a:tcPr/>
                </a:tc>
                <a:tc>
                  <a:txBody>
                    <a:bodyPr/>
                    <a:lstStyle/>
                    <a:p>
                      <a:pPr algn="ctr"/>
                      <a:r>
                        <a:rPr lang="en-US" dirty="0" smtClean="0"/>
                        <a:t>900</a:t>
                      </a:r>
                      <a:endParaRPr lang="en-US" dirty="0"/>
                    </a:p>
                  </a:txBody>
                  <a:tcPr/>
                </a:tc>
              </a:tr>
              <a:tr h="365397">
                <a:tc>
                  <a:txBody>
                    <a:bodyPr/>
                    <a:lstStyle/>
                    <a:p>
                      <a:pPr algn="ctr"/>
                      <a:r>
                        <a:rPr lang="en-US" dirty="0" smtClean="0"/>
                        <a:t>2.</a:t>
                      </a:r>
                      <a:endParaRPr lang="en-US" dirty="0"/>
                    </a:p>
                  </a:txBody>
                  <a:tcPr/>
                </a:tc>
                <a:tc>
                  <a:txBody>
                    <a:bodyPr/>
                    <a:lstStyle/>
                    <a:p>
                      <a:pPr algn="ctr"/>
                      <a:r>
                        <a:rPr lang="en-US" dirty="0" smtClean="0"/>
                        <a:t>FRAME</a:t>
                      </a:r>
                      <a:endParaRPr lang="en-US" dirty="0"/>
                    </a:p>
                  </a:txBody>
                  <a:tcPr/>
                </a:tc>
                <a:tc>
                  <a:txBody>
                    <a:bodyPr/>
                    <a:lstStyle/>
                    <a:p>
                      <a:pPr algn="ctr"/>
                      <a:r>
                        <a:rPr lang="en-US" dirty="0" smtClean="0"/>
                        <a:t>1500</a:t>
                      </a:r>
                      <a:endParaRPr lang="en-US" dirty="0"/>
                    </a:p>
                  </a:txBody>
                  <a:tcPr/>
                </a:tc>
              </a:tr>
              <a:tr h="365397">
                <a:tc>
                  <a:txBody>
                    <a:bodyPr/>
                    <a:lstStyle/>
                    <a:p>
                      <a:pPr algn="ctr"/>
                      <a:r>
                        <a:rPr lang="en-US" dirty="0" smtClean="0"/>
                        <a:t>3..</a:t>
                      </a:r>
                      <a:endParaRPr lang="en-US" dirty="0"/>
                    </a:p>
                  </a:txBody>
                  <a:tcPr/>
                </a:tc>
                <a:tc>
                  <a:txBody>
                    <a:bodyPr/>
                    <a:lstStyle/>
                    <a:p>
                      <a:pPr algn="ctr"/>
                      <a:r>
                        <a:rPr lang="en-US" dirty="0" smtClean="0"/>
                        <a:t>SHAFT</a:t>
                      </a:r>
                      <a:endParaRPr lang="en-US" dirty="0"/>
                    </a:p>
                  </a:txBody>
                  <a:tcPr/>
                </a:tc>
                <a:tc>
                  <a:txBody>
                    <a:bodyPr/>
                    <a:lstStyle/>
                    <a:p>
                      <a:pPr algn="ctr"/>
                      <a:r>
                        <a:rPr lang="en-US" dirty="0" smtClean="0"/>
                        <a:t>300</a:t>
                      </a:r>
                      <a:endParaRPr lang="en-US" dirty="0"/>
                    </a:p>
                  </a:txBody>
                  <a:tcPr/>
                </a:tc>
              </a:tr>
              <a:tr h="365397">
                <a:tc>
                  <a:txBody>
                    <a:bodyPr/>
                    <a:lstStyle/>
                    <a:p>
                      <a:pPr algn="ctr"/>
                      <a:r>
                        <a:rPr lang="en-US" dirty="0" smtClean="0"/>
                        <a:t>4.</a:t>
                      </a:r>
                      <a:endParaRPr lang="en-US" dirty="0"/>
                    </a:p>
                  </a:txBody>
                  <a:tcPr/>
                </a:tc>
                <a:tc>
                  <a:txBody>
                    <a:bodyPr/>
                    <a:lstStyle/>
                    <a:p>
                      <a:pPr algn="ctr"/>
                      <a:r>
                        <a:rPr lang="en-US" dirty="0" smtClean="0"/>
                        <a:t>METAL STRIP</a:t>
                      </a:r>
                      <a:endParaRPr lang="en-US" dirty="0"/>
                    </a:p>
                  </a:txBody>
                  <a:tcPr/>
                </a:tc>
                <a:tc>
                  <a:txBody>
                    <a:bodyPr/>
                    <a:lstStyle/>
                    <a:p>
                      <a:pPr algn="ctr"/>
                      <a:r>
                        <a:rPr lang="en-US" dirty="0" smtClean="0"/>
                        <a:t>200</a:t>
                      </a:r>
                      <a:endParaRPr lang="en-US" dirty="0"/>
                    </a:p>
                  </a:txBody>
                  <a:tcPr/>
                </a:tc>
              </a:tr>
              <a:tr h="365397">
                <a:tc>
                  <a:txBody>
                    <a:bodyPr/>
                    <a:lstStyle/>
                    <a:p>
                      <a:pPr algn="ctr"/>
                      <a:r>
                        <a:rPr lang="en-US" dirty="0" smtClean="0"/>
                        <a:t>5..</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BEARING</a:t>
                      </a:r>
                    </a:p>
                  </a:txBody>
                  <a:tcPr/>
                </a:tc>
                <a:tc>
                  <a:txBody>
                    <a:bodyPr/>
                    <a:lstStyle/>
                    <a:p>
                      <a:pPr algn="ctr"/>
                      <a:r>
                        <a:rPr lang="en-US" dirty="0" smtClean="0"/>
                        <a:t>200</a:t>
                      </a:r>
                      <a:endParaRPr lang="en-US" dirty="0"/>
                    </a:p>
                  </a:txBody>
                  <a:tcPr/>
                </a:tc>
              </a:tr>
              <a:tr h="365397">
                <a:tc>
                  <a:txBody>
                    <a:bodyPr/>
                    <a:lstStyle/>
                    <a:p>
                      <a:pPr algn="ctr"/>
                      <a:r>
                        <a:rPr lang="en-US" dirty="0" smtClean="0"/>
                        <a:t>6.</a:t>
                      </a:r>
                      <a:endParaRPr lang="en-US" dirty="0"/>
                    </a:p>
                  </a:txBody>
                  <a:tcPr/>
                </a:tc>
                <a:tc>
                  <a:txBody>
                    <a:bodyPr/>
                    <a:lstStyle/>
                    <a:p>
                      <a:pPr algn="ctr"/>
                      <a:r>
                        <a:rPr lang="en-US" dirty="0" smtClean="0"/>
                        <a:t>SHEET METAL</a:t>
                      </a:r>
                      <a:endParaRPr lang="en-US" dirty="0"/>
                    </a:p>
                  </a:txBody>
                  <a:tcPr/>
                </a:tc>
                <a:tc>
                  <a:txBody>
                    <a:bodyPr/>
                    <a:lstStyle/>
                    <a:p>
                      <a:pPr algn="ctr"/>
                      <a:r>
                        <a:rPr lang="en-US" dirty="0" smtClean="0"/>
                        <a:t>800</a:t>
                      </a:r>
                      <a:endParaRPr lang="en-US" dirty="0"/>
                    </a:p>
                  </a:txBody>
                  <a:tcPr/>
                </a:tc>
              </a:tr>
              <a:tr h="365397">
                <a:tc>
                  <a:txBody>
                    <a:bodyPr/>
                    <a:lstStyle/>
                    <a:p>
                      <a:pPr algn="ctr"/>
                      <a:r>
                        <a:rPr lang="en-US" dirty="0" smtClean="0"/>
                        <a:t>7.</a:t>
                      </a:r>
                      <a:endParaRPr lang="en-US" dirty="0"/>
                    </a:p>
                  </a:txBody>
                  <a:tcPr/>
                </a:tc>
                <a:tc>
                  <a:txBody>
                    <a:bodyPr/>
                    <a:lstStyle/>
                    <a:p>
                      <a:pPr algn="ctr"/>
                      <a:r>
                        <a:rPr lang="en-US" dirty="0" smtClean="0"/>
                        <a:t>DISC</a:t>
                      </a:r>
                      <a:endParaRPr lang="en-US" dirty="0"/>
                    </a:p>
                  </a:txBody>
                  <a:tcPr/>
                </a:tc>
                <a:tc>
                  <a:txBody>
                    <a:bodyPr/>
                    <a:lstStyle/>
                    <a:p>
                      <a:pPr algn="ctr"/>
                      <a:r>
                        <a:rPr lang="en-US" dirty="0" smtClean="0"/>
                        <a:t>500</a:t>
                      </a:r>
                      <a:endParaRPr lang="en-US" dirty="0"/>
                    </a:p>
                  </a:txBody>
                  <a:tcPr/>
                </a:tc>
              </a:tr>
              <a:tr h="365397">
                <a:tc>
                  <a:txBody>
                    <a:bodyPr/>
                    <a:lstStyle/>
                    <a:p>
                      <a:pPr algn="ctr"/>
                      <a:r>
                        <a:rPr lang="en-US" dirty="0" smtClean="0"/>
                        <a:t>8.</a:t>
                      </a:r>
                      <a:endParaRPr lang="en-US" dirty="0"/>
                    </a:p>
                  </a:txBody>
                  <a:tcPr/>
                </a:tc>
                <a:tc>
                  <a:txBody>
                    <a:bodyPr/>
                    <a:lstStyle/>
                    <a:p>
                      <a:pPr algn="ctr"/>
                      <a:r>
                        <a:rPr lang="en-US" dirty="0" smtClean="0"/>
                        <a:t>WHEEL</a:t>
                      </a:r>
                      <a:endParaRPr lang="en-US" dirty="0"/>
                    </a:p>
                  </a:txBody>
                  <a:tcPr/>
                </a:tc>
                <a:tc>
                  <a:txBody>
                    <a:bodyPr/>
                    <a:lstStyle/>
                    <a:p>
                      <a:pPr algn="ctr"/>
                      <a:r>
                        <a:rPr lang="en-US" dirty="0" smtClean="0"/>
                        <a:t>600</a:t>
                      </a:r>
                      <a:endParaRPr lang="en-US" dirty="0"/>
                    </a:p>
                  </a:txBody>
                  <a:tcPr/>
                </a:tc>
              </a:tr>
              <a:tr h="365397">
                <a:tc>
                  <a:txBody>
                    <a:bodyPr/>
                    <a:lstStyle/>
                    <a:p>
                      <a:pPr algn="ctr"/>
                      <a:r>
                        <a:rPr lang="en-US" dirty="0" smtClean="0"/>
                        <a:t>9.</a:t>
                      </a:r>
                      <a:endParaRPr lang="en-US" dirty="0"/>
                    </a:p>
                  </a:txBody>
                  <a:tcPr/>
                </a:tc>
                <a:tc>
                  <a:txBody>
                    <a:bodyPr/>
                    <a:lstStyle/>
                    <a:p>
                      <a:pPr algn="ctr"/>
                      <a:endParaRPr lang="en-US" dirty="0"/>
                    </a:p>
                  </a:txBody>
                  <a:tcPr/>
                </a:tc>
                <a:tc>
                  <a:txBody>
                    <a:bodyPr/>
                    <a:lstStyle/>
                    <a:p>
                      <a:pPr algn="ctr"/>
                      <a:r>
                        <a:rPr lang="en-US" dirty="0" smtClean="0"/>
                        <a:t>5000</a:t>
                      </a:r>
                      <a:endParaRPr lang="en-US" dirty="0"/>
                    </a:p>
                  </a:txBody>
                  <a:tcPr/>
                </a:tc>
              </a:tr>
              <a:tr h="365397">
                <a:tc>
                  <a:txBody>
                    <a:bodyPr/>
                    <a:lstStyle/>
                    <a:p>
                      <a:pPr marL="342900" indent="-342900" algn="ctr">
                        <a:buFont typeface="+mj-lt"/>
                        <a:buNone/>
                      </a:pPr>
                      <a:r>
                        <a:rPr lang="en-US" dirty="0" smtClean="0"/>
                        <a:t>10.</a:t>
                      </a:r>
                      <a:endParaRPr lang="en-US" dirty="0"/>
                    </a:p>
                  </a:txBody>
                  <a:tcPr/>
                </a:tc>
                <a:tc>
                  <a:txBody>
                    <a:bodyPr/>
                    <a:lstStyle/>
                    <a:p>
                      <a:pPr algn="ctr"/>
                      <a:endParaRPr lang="en-US" dirty="0"/>
                    </a:p>
                  </a:txBody>
                  <a:tcPr/>
                </a:tc>
                <a:tc>
                  <a:txBody>
                    <a:bodyPr/>
                    <a:lstStyle/>
                    <a:p>
                      <a:pPr algn="ctr"/>
                      <a:endParaRPr lang="en-US" dirty="0"/>
                    </a:p>
                  </a:txBody>
                  <a:tcPr/>
                </a:tc>
              </a:tr>
              <a:tr h="365397">
                <a:tc>
                  <a:txBody>
                    <a:bodyPr/>
                    <a:lstStyle/>
                    <a:p>
                      <a:pPr marL="342900" indent="-342900" algn="ctr">
                        <a:buFont typeface="+mj-lt"/>
                        <a:buNone/>
                      </a:pPr>
                      <a:r>
                        <a:rPr lang="en-US" dirty="0" smtClean="0"/>
                        <a:t>11.</a:t>
                      </a:r>
                      <a:endParaRPr lang="en-US" dirty="0"/>
                    </a:p>
                  </a:txBody>
                  <a:tcPr/>
                </a:tc>
                <a:tc>
                  <a:txBody>
                    <a:bodyPr/>
                    <a:lstStyle/>
                    <a:p>
                      <a:pPr algn="ctr"/>
                      <a:endParaRPr lang="en-US" dirty="0"/>
                    </a:p>
                  </a:txBody>
                  <a:tcPr/>
                </a:tc>
                <a:tc>
                  <a:txBody>
                    <a:bodyPr/>
                    <a:lstStyle/>
                    <a:p>
                      <a:pPr algn="ctr"/>
                      <a:endParaRPr lang="en-US" dirty="0"/>
                    </a:p>
                  </a:txBody>
                  <a:tcPr/>
                </a:tc>
              </a:tr>
              <a:tr h="365397">
                <a:tc>
                  <a:txBody>
                    <a:bodyPr/>
                    <a:lstStyle/>
                    <a:p>
                      <a:pPr marL="342900" indent="-342900" algn="ctr">
                        <a:buFont typeface="+mj-lt"/>
                        <a:buNone/>
                      </a:pPr>
                      <a:r>
                        <a:rPr lang="en-US" dirty="0" smtClean="0"/>
                        <a:t>12</a:t>
                      </a:r>
                      <a:endParaRPr lang="en-US" dirty="0"/>
                    </a:p>
                  </a:txBody>
                  <a:tcPr/>
                </a:tc>
                <a:tc>
                  <a:txBody>
                    <a:bodyPr/>
                    <a:lstStyle/>
                    <a:p>
                      <a:pPr algn="ctr"/>
                      <a:endParaRPr lang="en-US" dirty="0"/>
                    </a:p>
                  </a:txBody>
                  <a:tcPr/>
                </a:tc>
                <a:tc>
                  <a:txBody>
                    <a:bodyPr/>
                    <a:lstStyle/>
                    <a:p>
                      <a:pPr algn="ctr"/>
                      <a:endParaRPr lang="en-US" dirty="0"/>
                    </a:p>
                  </a:txBody>
                  <a:tcPr/>
                </a:tc>
              </a:tr>
              <a:tr h="365397">
                <a:tc>
                  <a:txBody>
                    <a:bodyPr/>
                    <a:lstStyle/>
                    <a:p>
                      <a:pPr marL="342900" indent="-342900" algn="ctr">
                        <a:buFont typeface="+mj-lt"/>
                        <a:buNone/>
                      </a:pPr>
                      <a:r>
                        <a:rPr lang="en-US" dirty="0" smtClean="0"/>
                        <a:t>13.</a:t>
                      </a: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DIAGRAM </a:t>
            </a:r>
            <a:endParaRPr lang="en-US" dirty="0"/>
          </a:p>
        </p:txBody>
      </p:sp>
      <p:pic>
        <p:nvPicPr>
          <p:cNvPr id="5" name="Image 9"/>
          <p:cNvPicPr>
            <a:picLocks noGrp="1"/>
          </p:cNvPicPr>
          <p:nvPr>
            <p:ph idx="1"/>
          </p:nvPr>
        </p:nvPicPr>
        <p:blipFill>
          <a:blip r:embed="rId2" cstate="print"/>
          <a:stretch>
            <a:fillRect/>
          </a:stretch>
        </p:blipFill>
        <p:spPr>
          <a:xfrm>
            <a:off x="914400" y="1676400"/>
            <a:ext cx="7295137" cy="4525963"/>
          </a:xfrm>
          <a:prstGeom prst="rect">
            <a:avLst/>
          </a:prstGeom>
        </p:spPr>
      </p:pic>
    </p:spTree>
    <p:extLst>
      <p:ext uri="{BB962C8B-B14F-4D97-AF65-F5344CB8AC3E}">
        <p14:creationId xmlns:p14="http://schemas.microsoft.com/office/powerpoint/2010/main" xmlns="" val="142553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C:\Users\I NTEL\Desktop\images (2).jpg"/>
          <p:cNvPicPr>
            <a:picLocks noGrp="1" noChangeAspect="1" noChangeArrowheads="1"/>
          </p:cNvPicPr>
          <p:nvPr>
            <p:ph idx="1"/>
          </p:nvPr>
        </p:nvPicPr>
        <p:blipFill>
          <a:blip r:embed="rId2"/>
          <a:srcRect/>
          <a:stretch>
            <a:fillRect/>
          </a:stretch>
        </p:blipFill>
        <p:spPr bwMode="auto">
          <a:xfrm>
            <a:off x="3033712" y="3120231"/>
            <a:ext cx="3076575" cy="14859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1922</TotalTime>
  <Words>1039</Words>
  <Application>Microsoft Office PowerPoint</Application>
  <PresentationFormat>On-screen Show (4:3)</PresentationFormat>
  <Paragraphs>195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 </vt:lpstr>
      <vt:lpstr>ABSTRACT</vt:lpstr>
      <vt:lpstr>INTRODUCTION</vt:lpstr>
      <vt:lpstr>CONSTRUCTION </vt:lpstr>
      <vt:lpstr>LITERATURE REVIEW1/4</vt:lpstr>
      <vt:lpstr>LITERATURE REVIEW2/4</vt:lpstr>
      <vt:lpstr>LITERATURE REVIEW3/4</vt:lpstr>
      <vt:lpstr>LITERATURE REVIEW4/4</vt:lpstr>
      <vt:lpstr>WORKING PRINCIPLE</vt:lpstr>
      <vt:lpstr>MAJOR COMPONENTS     MAJOR COMPONENTS     </vt:lpstr>
      <vt:lpstr>SHEET METAL</vt:lpstr>
      <vt:lpstr>CIRCULAR DISC </vt:lpstr>
      <vt:lpstr>Wheel</vt:lpstr>
      <vt:lpstr>CHAIN DRIVE</vt:lpstr>
      <vt:lpstr>FRAME</vt:lpstr>
      <vt:lpstr>METAL STRIP</vt:lpstr>
      <vt:lpstr>SHAFT</vt:lpstr>
      <vt:lpstr>DESIGN OF BALL BEARING</vt:lpstr>
      <vt:lpstr>ADVANTAGES </vt:lpstr>
      <vt:lpstr>DIS ADVANTAGES </vt:lpstr>
      <vt:lpstr>APPLICATION </vt:lpstr>
      <vt:lpstr> MATERIAL USED</vt:lpstr>
      <vt:lpstr>COST ESTIMATION</vt:lpstr>
      <vt:lpstr>BLOCK DIAGRAM </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TITTLE</dc:title>
  <dc:creator>Shandhru</dc:creator>
  <cp:lastModifiedBy>INTEL</cp:lastModifiedBy>
  <cp:revision>75</cp:revision>
  <dcterms:created xsi:type="dcterms:W3CDTF">2018-07-11T04:11:26Z</dcterms:created>
  <dcterms:modified xsi:type="dcterms:W3CDTF">2025-03-06T11:19:21Z</dcterms:modified>
</cp:coreProperties>
</file>